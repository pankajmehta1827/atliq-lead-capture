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of this session: show what the working prototype does, how it stays safe, what it costs and saves, and agree the four decisions we need to move to the shadow test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flow is healthy. What we lose is the follow-through: promises made in meetings and emails never reach the CRM, so deals go quiet without anyone noticing.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to reveal each why, then the root cause. This is why a better CRM screen alone would not fix it: the fix has to start where the conversation happens and remove the typing step, while keeping the owner in control of what is saved.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prototype runs end to end. What is not built yet is the live connection to our mailboxes and calendars; today conversations are pasted, uploaded or synced from a test mailbox.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to 3 are automatic. Step 4 is the owner's decision and is the only path into the CRM. Step 5 reminds the owner; the assistant has no ability to send email.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follow-up queue, one card per deal with a live timer that turns red when overdue. Right: the pipeline board by stage, with deals that need attention at the top and owner and next-step fixes right on the card.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these run automatically on every conversation: classify, draft the record and find dates. Draft reply and ask the pipeline run only when someone clicks. None of them can write to the CRM or contact a client.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“check back later” signals that get lost today. A lost deal with a revisit date is a future deal; the assistant keeps that date. A decision date mentioned once in an email becomes a reminder. An internal review that discusses several deals becomes one update per deal.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rule: the CRM only changes when the deal owner clicks confirm, and the assistant has no ability to send anything to a client. Everything else supports that.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Capture runs on Claude Haiku 5.5, which costs about the same as the open-weight model and gives typed, structured answers. Pipeline questions read a snapshot of every deal, so their cost grows with the CRM; at a few hundred deals we switch to vector search, which keeps it flat for a few cents a month in embeddings.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saving is mostly time, not cash: about 128 hours a month that founders and the salesperson spend typing conversations into the CRM today. The AI itself costs about four dollars of that. Even if only 40 percent of the work is automated, it still saves more than 1,600 dollars a month. The real upside is bigger: deals that no longer go quiet, which this estimate does not count.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North Star comes straight from the pain point: leads recorded fast and complete. It only counts if the AI's field accuracy is at least 90 percent on our labelled test set, so we cannot hit it by accepting bad drafts.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stage has a gate we must meet before moving on, and the kill-switch rules apply at every stage. The shadow test in December is the first time the assistant reads real email, which is why consent is the first decision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Smaller open items for later: whether pipeline stages stay as the CRM's three or add Qualified and Negotiation, and how reminders reach owners outside the app, by email digest or push.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the four decisions on the previous slide. Everything referenced today is in the document pack.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812800" y="812800"/>
            <a:ext cx="457200" cy="4572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20000"/>
              </a:lnSpc>
            </a:pPr>
            <a:r>
              <a:rPr sz="2200" b="1">
                <a:solidFill>
                  <a:srgbClr val="14213D"/>
                </a:solidFill>
                <a:latin typeface="Arial Narrow"/>
              </a:rPr>
              <a:t>A</a:t>
            </a:r>
          </a:p>
        </p:txBody>
      </p:sp>
      <p:sp>
        <p:nvSpPr>
          <p:cNvPr id="3" name="TextBox 2"/>
          <p:cNvSpPr txBox="1"/>
          <p:nvPr/>
        </p:nvSpPr>
        <p:spPr>
          <a:xfrm>
            <a:off x="1422400" y="927100"/>
            <a:ext cx="5715000" cy="254000"/>
          </a:xfrm>
          <a:prstGeom prst="rect">
            <a:avLst/>
          </a:prstGeom>
          <a:noFill/>
        </p:spPr>
        <p:txBody>
          <a:bodyPr wrap="square" lIns="0" rIns="0" tIns="0" bIns="0" anchor="t">
            <a:spAutoFit/>
          </a:bodyPr>
          <a:lstStyle/>
          <a:p>
            <a:pPr algn="l">
              <a:lnSpc>
                <a:spcPct val="120000"/>
              </a:lnSpc>
            </a:pPr>
            <a:r>
              <a:rPr sz="1400" b="1" cap="all" spc="300">
                <a:solidFill>
                  <a:srgbClr val="F4F1EA"/>
                </a:solidFill>
                <a:latin typeface="Arial"/>
              </a:rPr>
              <a:t>AtliQ Lead Assistant</a:t>
            </a:r>
          </a:p>
        </p:txBody>
      </p:sp>
      <p:sp>
        <p:nvSpPr>
          <p:cNvPr id="4" name="TextBox 3"/>
          <p:cNvSpPr txBox="1"/>
          <p:nvPr/>
        </p:nvSpPr>
        <p:spPr>
          <a:xfrm>
            <a:off x="812800" y="2540000"/>
            <a:ext cx="9525000" cy="254000"/>
          </a:xfrm>
          <a:prstGeom prst="rect">
            <a:avLst/>
          </a:prstGeom>
          <a:noFill/>
        </p:spPr>
        <p:txBody>
          <a:bodyPr wrap="square" lIns="0" rIns="0" tIns="0" bIns="0" anchor="t">
            <a:spAutoFit/>
          </a:bodyPr>
          <a:lstStyle/>
          <a:p>
            <a:pPr algn="l">
              <a:lnSpc>
                <a:spcPct val="120000"/>
              </a:lnSpc>
            </a:pPr>
            <a:r>
              <a:rPr sz="1400" b="1" cap="all" spc="300">
                <a:solidFill>
                  <a:srgbClr val="E4572E"/>
                </a:solidFill>
                <a:latin typeface="Arial"/>
              </a:rPr>
              <a:t>Stakeholder review · Founders &amp; CEO</a:t>
            </a:r>
          </a:p>
        </p:txBody>
      </p:sp>
      <p:sp>
        <p:nvSpPr>
          <p:cNvPr id="5" name="TextBox 4"/>
          <p:cNvSpPr txBox="1"/>
          <p:nvPr/>
        </p:nvSpPr>
        <p:spPr>
          <a:xfrm>
            <a:off x="812800" y="2895600"/>
            <a:ext cx="10160000" cy="1841500"/>
          </a:xfrm>
          <a:prstGeom prst="rect">
            <a:avLst/>
          </a:prstGeom>
          <a:noFill/>
        </p:spPr>
        <p:txBody>
          <a:bodyPr wrap="square" lIns="0" rIns="0" tIns="0" bIns="0" anchor="t">
            <a:spAutoFit/>
          </a:bodyPr>
          <a:lstStyle/>
          <a:p>
            <a:pPr algn="l">
              <a:lnSpc>
                <a:spcPct val="95000"/>
              </a:lnSpc>
            </a:pPr>
            <a:r>
              <a:rPr sz="6500" b="1" cap="all">
                <a:solidFill>
                  <a:srgbClr val="F4F1EA"/>
                </a:solidFill>
                <a:latin typeface="Arial Narrow"/>
              </a:rPr>
              <a:t>Lead Capture &amp;</a:t>
            </a:r>
          </a:p>
          <a:p>
            <a:pPr algn="l">
              <a:lnSpc>
                <a:spcPct val="95000"/>
              </a:lnSpc>
            </a:pPr>
            <a:r>
              <a:rPr sz="6500" b="1" cap="all">
                <a:solidFill>
                  <a:srgbClr val="F4F1EA"/>
                </a:solidFill>
                <a:latin typeface="Arial Narrow"/>
              </a:rPr>
              <a:t>Follow-up Assistant</a:t>
            </a:r>
          </a:p>
        </p:txBody>
      </p:sp>
      <p:sp>
        <p:nvSpPr>
          <p:cNvPr id="6" name="TextBox 5"/>
          <p:cNvSpPr txBox="1"/>
          <p:nvPr/>
        </p:nvSpPr>
        <p:spPr>
          <a:xfrm>
            <a:off x="812800" y="4889500"/>
            <a:ext cx="8255000" cy="762000"/>
          </a:xfrm>
          <a:prstGeom prst="rect">
            <a:avLst/>
          </a:prstGeom>
          <a:noFill/>
        </p:spPr>
        <p:txBody>
          <a:bodyPr wrap="square" lIns="0" rIns="0" tIns="0" bIns="0" anchor="t">
            <a:spAutoFit/>
          </a:bodyPr>
          <a:lstStyle/>
          <a:p>
            <a:pPr algn="l">
              <a:lnSpc>
                <a:spcPct val="130000"/>
              </a:lnSpc>
            </a:pPr>
            <a:r>
              <a:rPr sz="2000" b="0">
                <a:solidFill>
                  <a:srgbClr val="B8C0CF"/>
                </a:solidFill>
                <a:latin typeface="Arial"/>
              </a:rPr>
              <a:t>From conversation to CRM record in under a minute, and no client commitment forgotten.</a:t>
            </a:r>
          </a:p>
        </p:txBody>
      </p:sp>
      <p:sp>
        <p:nvSpPr>
          <p:cNvPr id="7" name="Rectangle 6"/>
          <p:cNvSpPr/>
          <p:nvPr/>
        </p:nvSpPr>
        <p:spPr>
          <a:xfrm>
            <a:off x="812800" y="5816600"/>
            <a:ext cx="10566400" cy="12700"/>
          </a:xfrm>
          <a:prstGeom prst="rect">
            <a:avLst/>
          </a:prstGeom>
          <a:solidFill>
            <a:srgbClr val="3A4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2800" y="5994400"/>
            <a:ext cx="5080000" cy="254000"/>
          </a:xfrm>
          <a:prstGeom prst="rect">
            <a:avLst/>
          </a:prstGeom>
          <a:noFill/>
        </p:spPr>
        <p:txBody>
          <a:bodyPr wrap="square" lIns="0" rIns="0" tIns="0" bIns="0" anchor="t">
            <a:spAutoFit/>
          </a:bodyPr>
          <a:lstStyle/>
          <a:p>
            <a:pPr algn="l">
              <a:lnSpc>
                <a:spcPct val="120000"/>
              </a:lnSpc>
            </a:pPr>
            <a:r>
              <a:rPr sz="1400" b="0">
                <a:solidFill>
                  <a:srgbClr val="B8C0CF"/>
                </a:solidFill>
                <a:latin typeface="Arial"/>
              </a:rPr>
              <a:t>Pankaj Mehta, AI Product Manager</a:t>
            </a:r>
          </a:p>
        </p:txBody>
      </p:sp>
      <p:sp>
        <p:nvSpPr>
          <p:cNvPr id="9" name="TextBox 8"/>
          <p:cNvSpPr txBox="1"/>
          <p:nvPr/>
        </p:nvSpPr>
        <p:spPr>
          <a:xfrm>
            <a:off x="6299200" y="5994400"/>
            <a:ext cx="5080000" cy="254000"/>
          </a:xfrm>
          <a:prstGeom prst="rect">
            <a:avLst/>
          </a:prstGeom>
          <a:noFill/>
        </p:spPr>
        <p:txBody>
          <a:bodyPr wrap="square" lIns="0" rIns="0" tIns="0" bIns="0" anchor="t">
            <a:spAutoFit/>
          </a:bodyPr>
          <a:lstStyle/>
          <a:p>
            <a:pPr algn="r">
              <a:lnSpc>
                <a:spcPct val="120000"/>
              </a:lnSpc>
            </a:pPr>
            <a:r>
              <a:rPr sz="1400" b="0">
                <a:solidFill>
                  <a:srgbClr val="B8C0CF"/>
                </a:solidFill>
                <a:latin typeface="Arial"/>
              </a:rPr>
              <a:t>October 2026 · Prototype review · PRD v1.2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01 · The problem</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The leads are there. The commitments are not in the CRM.</a:t>
            </a:r>
          </a:p>
        </p:txBody>
      </p:sp>
      <p:sp>
        <p:nvSpPr>
          <p:cNvPr id="4" name="Rectangle 3"/>
          <p:cNvSpPr/>
          <p:nvPr/>
        </p:nvSpPr>
        <p:spPr>
          <a:xfrm>
            <a:off x="812800" y="2413000"/>
            <a:ext cx="2489200" cy="1841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413000"/>
            <a:ext cx="2489200" cy="50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1400" y="2717800"/>
            <a:ext cx="2032000" cy="381000"/>
          </a:xfrm>
          <a:prstGeom prst="rect">
            <a:avLst/>
          </a:prstGeom>
          <a:noFill/>
        </p:spPr>
        <p:txBody>
          <a:bodyPr wrap="square" lIns="0" rIns="0" tIns="0" bIns="0" anchor="t">
            <a:spAutoFit/>
          </a:bodyPr>
          <a:lstStyle/>
          <a:p>
            <a:pPr algn="l">
              <a:lnSpc>
                <a:spcPct val="120000"/>
              </a:lnSpc>
            </a:pPr>
            <a:r>
              <a:rPr sz="1900" b="1" cap="all">
                <a:solidFill>
                  <a:srgbClr val="14213D"/>
                </a:solidFill>
                <a:latin typeface="Arial Narrow"/>
              </a:rPr>
              <a:t>No next date</a:t>
            </a:r>
          </a:p>
        </p:txBody>
      </p:sp>
      <p:sp>
        <p:nvSpPr>
          <p:cNvPr id="7" name="TextBox 6"/>
          <p:cNvSpPr txBox="1"/>
          <p:nvPr/>
        </p:nvSpPr>
        <p:spPr>
          <a:xfrm>
            <a:off x="1041400" y="3175000"/>
            <a:ext cx="2032000" cy="889000"/>
          </a:xfrm>
          <a:prstGeom prst="rect">
            <a:avLst/>
          </a:prstGeom>
          <a:noFill/>
        </p:spPr>
        <p:txBody>
          <a:bodyPr wrap="square" lIns="0" rIns="0" tIns="0" bIns="0" anchor="t">
            <a:spAutoFit/>
          </a:bodyPr>
          <a:lstStyle/>
          <a:p>
            <a:pPr algn="l">
              <a:lnSpc>
                <a:spcPct val="130000"/>
              </a:lnSpc>
            </a:pPr>
            <a:r>
              <a:rPr sz="1400" b="0">
                <a:solidFill>
                  <a:srgbClr val="4A5568"/>
                </a:solidFill>
                <a:latin typeface="Arial"/>
              </a:rPr>
              <a:t>Open deals sit without a follow-up date</a:t>
            </a:r>
          </a:p>
        </p:txBody>
      </p:sp>
      <p:sp>
        <p:nvSpPr>
          <p:cNvPr id="8" name="Rectangle 7"/>
          <p:cNvSpPr/>
          <p:nvPr/>
        </p:nvSpPr>
        <p:spPr>
          <a:xfrm>
            <a:off x="3505200" y="2413000"/>
            <a:ext cx="2489200" cy="1841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05200" y="2413000"/>
            <a:ext cx="2489200" cy="50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3800" y="2717800"/>
            <a:ext cx="2032000" cy="381000"/>
          </a:xfrm>
          <a:prstGeom prst="rect">
            <a:avLst/>
          </a:prstGeom>
          <a:noFill/>
        </p:spPr>
        <p:txBody>
          <a:bodyPr wrap="square" lIns="0" rIns="0" tIns="0" bIns="0" anchor="t">
            <a:spAutoFit/>
          </a:bodyPr>
          <a:lstStyle/>
          <a:p>
            <a:pPr algn="l">
              <a:lnSpc>
                <a:spcPct val="120000"/>
              </a:lnSpc>
            </a:pPr>
            <a:r>
              <a:rPr sz="1900" b="1" cap="all">
                <a:solidFill>
                  <a:srgbClr val="14213D"/>
                </a:solidFill>
                <a:latin typeface="Arial Narrow"/>
              </a:rPr>
              <a:t>Deals go quiet</a:t>
            </a:r>
          </a:p>
        </p:txBody>
      </p:sp>
      <p:sp>
        <p:nvSpPr>
          <p:cNvPr id="11" name="TextBox 10"/>
          <p:cNvSpPr txBox="1"/>
          <p:nvPr/>
        </p:nvSpPr>
        <p:spPr>
          <a:xfrm>
            <a:off x="3733800" y="3175000"/>
            <a:ext cx="2032000" cy="889000"/>
          </a:xfrm>
          <a:prstGeom prst="rect">
            <a:avLst/>
          </a:prstGeom>
          <a:noFill/>
        </p:spPr>
        <p:txBody>
          <a:bodyPr wrap="square" lIns="0" rIns="0" tIns="0" bIns="0" anchor="t">
            <a:spAutoFit/>
          </a:bodyPr>
          <a:lstStyle/>
          <a:p>
            <a:pPr algn="l">
              <a:lnSpc>
                <a:spcPct val="130000"/>
              </a:lnSpc>
            </a:pPr>
            <a:r>
              <a:rPr sz="1400" b="0">
                <a:solidFill>
                  <a:srgbClr val="4A5568"/>
                </a:solidFill>
                <a:latin typeface="Arial"/>
              </a:rPr>
              <a:t>Weeks pass with no contact</a:t>
            </a:r>
          </a:p>
        </p:txBody>
      </p:sp>
      <p:sp>
        <p:nvSpPr>
          <p:cNvPr id="12" name="Rectangle 11"/>
          <p:cNvSpPr/>
          <p:nvPr/>
        </p:nvSpPr>
        <p:spPr>
          <a:xfrm>
            <a:off x="6197600" y="2413000"/>
            <a:ext cx="2489200" cy="1841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7600" y="2413000"/>
            <a:ext cx="2489200" cy="50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6200" y="2717800"/>
            <a:ext cx="2032000" cy="381000"/>
          </a:xfrm>
          <a:prstGeom prst="rect">
            <a:avLst/>
          </a:prstGeom>
          <a:noFill/>
        </p:spPr>
        <p:txBody>
          <a:bodyPr wrap="square" lIns="0" rIns="0" tIns="0" bIns="0" anchor="t">
            <a:spAutoFit/>
          </a:bodyPr>
          <a:lstStyle/>
          <a:p>
            <a:pPr algn="l">
              <a:lnSpc>
                <a:spcPct val="120000"/>
              </a:lnSpc>
            </a:pPr>
            <a:r>
              <a:rPr sz="1900" b="1" cap="all">
                <a:solidFill>
                  <a:srgbClr val="14213D"/>
                </a:solidFill>
                <a:latin typeface="Arial Narrow"/>
              </a:rPr>
              <a:t>Proposals wait</a:t>
            </a:r>
          </a:p>
        </p:txBody>
      </p:sp>
      <p:sp>
        <p:nvSpPr>
          <p:cNvPr id="15" name="TextBox 14"/>
          <p:cNvSpPr txBox="1"/>
          <p:nvPr/>
        </p:nvSpPr>
        <p:spPr>
          <a:xfrm>
            <a:off x="6426200" y="3175000"/>
            <a:ext cx="2032000" cy="889000"/>
          </a:xfrm>
          <a:prstGeom prst="rect">
            <a:avLst/>
          </a:prstGeom>
          <a:noFill/>
        </p:spPr>
        <p:txBody>
          <a:bodyPr wrap="square" lIns="0" rIns="0" tIns="0" bIns="0" anchor="t">
            <a:spAutoFit/>
          </a:bodyPr>
          <a:lstStyle/>
          <a:p>
            <a:pPr algn="l">
              <a:lnSpc>
                <a:spcPct val="130000"/>
              </a:lnSpc>
            </a:pPr>
            <a:r>
              <a:rPr sz="1400" b="0">
                <a:solidFill>
                  <a:srgbClr val="4A5568"/>
                </a:solidFill>
                <a:latin typeface="Arial"/>
              </a:rPr>
              <a:t>Sent, then never chased for a reply</a:t>
            </a:r>
          </a:p>
        </p:txBody>
      </p:sp>
      <p:sp>
        <p:nvSpPr>
          <p:cNvPr id="16" name="Rectangle 15"/>
          <p:cNvSpPr/>
          <p:nvPr/>
        </p:nvSpPr>
        <p:spPr>
          <a:xfrm>
            <a:off x="8890000" y="2413000"/>
            <a:ext cx="2489200" cy="1841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90000" y="2413000"/>
            <a:ext cx="2489200" cy="50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18600" y="2717800"/>
            <a:ext cx="2032000" cy="381000"/>
          </a:xfrm>
          <a:prstGeom prst="rect">
            <a:avLst/>
          </a:prstGeom>
          <a:noFill/>
        </p:spPr>
        <p:txBody>
          <a:bodyPr wrap="square" lIns="0" rIns="0" tIns="0" bIns="0" anchor="t">
            <a:spAutoFit/>
          </a:bodyPr>
          <a:lstStyle/>
          <a:p>
            <a:pPr algn="l">
              <a:lnSpc>
                <a:spcPct val="120000"/>
              </a:lnSpc>
            </a:pPr>
            <a:r>
              <a:rPr sz="1900" b="1" cap="all">
                <a:solidFill>
                  <a:srgbClr val="14213D"/>
                </a:solidFill>
                <a:latin typeface="Arial Narrow"/>
              </a:rPr>
              <a:t>No owner</a:t>
            </a:r>
          </a:p>
        </p:txBody>
      </p:sp>
      <p:sp>
        <p:nvSpPr>
          <p:cNvPr id="19" name="TextBox 18"/>
          <p:cNvSpPr txBox="1"/>
          <p:nvPr/>
        </p:nvSpPr>
        <p:spPr>
          <a:xfrm>
            <a:off x="9118600" y="3175000"/>
            <a:ext cx="2032000" cy="889000"/>
          </a:xfrm>
          <a:prstGeom prst="rect">
            <a:avLst/>
          </a:prstGeom>
          <a:noFill/>
        </p:spPr>
        <p:txBody>
          <a:bodyPr wrap="square" lIns="0" rIns="0" tIns="0" bIns="0" anchor="t">
            <a:spAutoFit/>
          </a:bodyPr>
          <a:lstStyle/>
          <a:p>
            <a:pPr algn="l">
              <a:lnSpc>
                <a:spcPct val="130000"/>
              </a:lnSpc>
            </a:pPr>
            <a:r>
              <a:rPr sz="1400" b="0">
                <a:solidFill>
                  <a:srgbClr val="4A5568"/>
                </a:solidFill>
                <a:latin typeface="Arial"/>
              </a:rPr>
              <a:t>Some deals have nobody following up</a:t>
            </a:r>
          </a:p>
        </p:txBody>
      </p:sp>
      <p:sp>
        <p:nvSpPr>
          <p:cNvPr id="20" name="TextBox 19"/>
          <p:cNvSpPr txBox="1"/>
          <p:nvPr/>
        </p:nvSpPr>
        <p:spPr>
          <a:xfrm>
            <a:off x="812800" y="4635500"/>
            <a:ext cx="9525000" cy="1016000"/>
          </a:xfrm>
          <a:prstGeom prst="rect">
            <a:avLst/>
          </a:prstGeom>
          <a:noFill/>
        </p:spPr>
        <p:txBody>
          <a:bodyPr wrap="square" lIns="0" rIns="0" tIns="0" bIns="0" anchor="t">
            <a:spAutoFit/>
          </a:bodyPr>
          <a:lstStyle/>
          <a:p>
            <a:pPr algn="l">
              <a:lnSpc>
                <a:spcPct val="135000"/>
              </a:lnSpc>
            </a:pPr>
            <a:r>
              <a:rPr sz="1600" b="0">
                <a:solidFill>
                  <a:srgbClr val="4A5568"/>
                </a:solidFill>
                <a:latin typeface="Arial"/>
              </a:rPr>
              <a:t>Leads arrive by referral, LinkedIn, events and existing clients. The founders sell between operations and travel, so the CRM is updated days later, if at all, and follow-ups run on memory.</a:t>
            </a:r>
          </a:p>
        </p:txBody>
      </p:sp>
      <p:sp>
        <p:nvSpPr>
          <p:cNvPr id="21" name="TextBox 20"/>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02 · Root cause</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Five whys lead to one gap</a:t>
            </a:r>
          </a:p>
        </p:txBody>
      </p:sp>
      <p:sp>
        <p:nvSpPr>
          <p:cNvPr id="4" name="Rectangle 3"/>
          <p:cNvSpPr/>
          <p:nvPr/>
        </p:nvSpPr>
        <p:spPr>
          <a:xfrm>
            <a:off x="812800" y="1905000"/>
            <a:ext cx="9207500" cy="5334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1905000"/>
            <a:ext cx="50800" cy="5334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41400" y="1905000"/>
            <a:ext cx="952500" cy="533400"/>
          </a:xfrm>
          <a:prstGeom prst="rect">
            <a:avLst/>
          </a:prstGeom>
          <a:noFill/>
        </p:spPr>
        <p:txBody>
          <a:bodyPr wrap="square" lIns="0" rIns="0" tIns="0" bIns="0" anchor="ctr">
            <a:spAutoFit/>
          </a:bodyPr>
          <a:lstStyle/>
          <a:p>
            <a:pPr algn="l">
              <a:lnSpc>
                <a:spcPct val="120000"/>
              </a:lnSpc>
            </a:pPr>
            <a:r>
              <a:rPr sz="1600" b="1">
                <a:solidFill>
                  <a:srgbClr val="B23A1B"/>
                </a:solidFill>
                <a:latin typeface="Arial Narrow"/>
              </a:rPr>
              <a:t>WHY 1</a:t>
            </a:r>
          </a:p>
        </p:txBody>
      </p:sp>
      <p:sp>
        <p:nvSpPr>
          <p:cNvPr id="7" name="TextBox 6"/>
          <p:cNvSpPr txBox="1"/>
          <p:nvPr/>
        </p:nvSpPr>
        <p:spPr>
          <a:xfrm>
            <a:off x="2019300" y="1905000"/>
            <a:ext cx="7810500" cy="533400"/>
          </a:xfrm>
          <a:prstGeom prst="rect">
            <a:avLst/>
          </a:prstGeom>
          <a:noFill/>
        </p:spPr>
        <p:txBody>
          <a:bodyPr wrap="square" lIns="0" rIns="0" tIns="0" bIns="0" anchor="ctr">
            <a:spAutoFit/>
          </a:bodyPr>
          <a:lstStyle/>
          <a:p>
            <a:pPr algn="l">
              <a:lnSpc>
                <a:spcPct val="120000"/>
              </a:lnSpc>
            </a:pPr>
            <a:r>
              <a:rPr sz="1500" b="0">
                <a:solidFill>
                  <a:srgbClr val="14213D"/>
                </a:solidFill>
                <a:latin typeface="Arial"/>
              </a:rPr>
              <a:t>Revenue is lost because follow-ups are late and revisits never happen.</a:t>
            </a:r>
          </a:p>
        </p:txBody>
      </p:sp>
      <p:sp>
        <p:nvSpPr>
          <p:cNvPr id="8" name="Rectangle 7"/>
          <p:cNvSpPr/>
          <p:nvPr/>
        </p:nvSpPr>
        <p:spPr>
          <a:xfrm>
            <a:off x="1130300" y="2571750"/>
            <a:ext cx="9207500" cy="5334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30300" y="2571750"/>
            <a:ext cx="50800" cy="5334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58900" y="2571750"/>
            <a:ext cx="952500" cy="533400"/>
          </a:xfrm>
          <a:prstGeom prst="rect">
            <a:avLst/>
          </a:prstGeom>
          <a:noFill/>
        </p:spPr>
        <p:txBody>
          <a:bodyPr wrap="square" lIns="0" rIns="0" tIns="0" bIns="0" anchor="ctr">
            <a:spAutoFit/>
          </a:bodyPr>
          <a:lstStyle/>
          <a:p>
            <a:pPr algn="l">
              <a:lnSpc>
                <a:spcPct val="120000"/>
              </a:lnSpc>
            </a:pPr>
            <a:r>
              <a:rPr sz="1600" b="1">
                <a:solidFill>
                  <a:srgbClr val="B23A1B"/>
                </a:solidFill>
                <a:latin typeface="Arial Narrow"/>
              </a:rPr>
              <a:t>WHY 2</a:t>
            </a:r>
          </a:p>
        </p:txBody>
      </p:sp>
      <p:sp>
        <p:nvSpPr>
          <p:cNvPr id="11" name="TextBox 10"/>
          <p:cNvSpPr txBox="1"/>
          <p:nvPr/>
        </p:nvSpPr>
        <p:spPr>
          <a:xfrm>
            <a:off x="2336800" y="2571750"/>
            <a:ext cx="7810500" cy="533400"/>
          </a:xfrm>
          <a:prstGeom prst="rect">
            <a:avLst/>
          </a:prstGeom>
          <a:noFill/>
        </p:spPr>
        <p:txBody>
          <a:bodyPr wrap="square" lIns="0" rIns="0" tIns="0" bIns="0" anchor="ctr">
            <a:spAutoFit/>
          </a:bodyPr>
          <a:lstStyle/>
          <a:p>
            <a:pPr algn="l">
              <a:lnSpc>
                <a:spcPct val="120000"/>
              </a:lnSpc>
            </a:pPr>
            <a:r>
              <a:rPr sz="1500" b="0">
                <a:solidFill>
                  <a:srgbClr val="14213D"/>
                </a:solidFill>
                <a:latin typeface="Arial"/>
              </a:rPr>
              <a:t>Commitments like “check back in Q4” are never written into the CRM.</a:t>
            </a:r>
          </a:p>
        </p:txBody>
      </p:sp>
      <p:sp>
        <p:nvSpPr>
          <p:cNvPr id="12" name="Rectangle 11"/>
          <p:cNvSpPr/>
          <p:nvPr/>
        </p:nvSpPr>
        <p:spPr>
          <a:xfrm>
            <a:off x="1447800" y="3238500"/>
            <a:ext cx="9207500" cy="5334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447800" y="3238500"/>
            <a:ext cx="50800" cy="5334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76400" y="3238500"/>
            <a:ext cx="952500" cy="533400"/>
          </a:xfrm>
          <a:prstGeom prst="rect">
            <a:avLst/>
          </a:prstGeom>
          <a:noFill/>
        </p:spPr>
        <p:txBody>
          <a:bodyPr wrap="square" lIns="0" rIns="0" tIns="0" bIns="0" anchor="ctr">
            <a:spAutoFit/>
          </a:bodyPr>
          <a:lstStyle/>
          <a:p>
            <a:pPr algn="l">
              <a:lnSpc>
                <a:spcPct val="120000"/>
              </a:lnSpc>
            </a:pPr>
            <a:r>
              <a:rPr sz="1600" b="1">
                <a:solidFill>
                  <a:srgbClr val="B23A1B"/>
                </a:solidFill>
                <a:latin typeface="Arial Narrow"/>
              </a:rPr>
              <a:t>WHY 3</a:t>
            </a:r>
          </a:p>
        </p:txBody>
      </p:sp>
      <p:sp>
        <p:nvSpPr>
          <p:cNvPr id="15" name="TextBox 14"/>
          <p:cNvSpPr txBox="1"/>
          <p:nvPr/>
        </p:nvSpPr>
        <p:spPr>
          <a:xfrm>
            <a:off x="2654300" y="3238500"/>
            <a:ext cx="7810500" cy="533400"/>
          </a:xfrm>
          <a:prstGeom prst="rect">
            <a:avLst/>
          </a:prstGeom>
          <a:noFill/>
        </p:spPr>
        <p:txBody>
          <a:bodyPr wrap="square" lIns="0" rIns="0" tIns="0" bIns="0" anchor="ctr">
            <a:spAutoFit/>
          </a:bodyPr>
          <a:lstStyle/>
          <a:p>
            <a:pPr algn="l">
              <a:lnSpc>
                <a:spcPct val="120000"/>
              </a:lnSpc>
            </a:pPr>
            <a:r>
              <a:rPr sz="1500" b="0">
                <a:solidFill>
                  <a:srgbClr val="14213D"/>
                </a:solidFill>
                <a:latin typeface="Arial"/>
              </a:rPr>
              <a:t>Leads and conversations are logged late, with little detail, or not at all.</a:t>
            </a:r>
          </a:p>
        </p:txBody>
      </p:sp>
      <p:sp>
        <p:nvSpPr>
          <p:cNvPr id="16" name="Rectangle 15"/>
          <p:cNvSpPr/>
          <p:nvPr/>
        </p:nvSpPr>
        <p:spPr>
          <a:xfrm>
            <a:off x="1765300" y="3905250"/>
            <a:ext cx="9207500" cy="5334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65300" y="3905250"/>
            <a:ext cx="50800" cy="5334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93900" y="3905250"/>
            <a:ext cx="952500" cy="533400"/>
          </a:xfrm>
          <a:prstGeom prst="rect">
            <a:avLst/>
          </a:prstGeom>
          <a:noFill/>
        </p:spPr>
        <p:txBody>
          <a:bodyPr wrap="square" lIns="0" rIns="0" tIns="0" bIns="0" anchor="ctr">
            <a:spAutoFit/>
          </a:bodyPr>
          <a:lstStyle/>
          <a:p>
            <a:pPr algn="l">
              <a:lnSpc>
                <a:spcPct val="120000"/>
              </a:lnSpc>
            </a:pPr>
            <a:r>
              <a:rPr sz="1600" b="1">
                <a:solidFill>
                  <a:srgbClr val="B23A1B"/>
                </a:solidFill>
                <a:latin typeface="Arial Narrow"/>
              </a:rPr>
              <a:t>WHY 4</a:t>
            </a:r>
          </a:p>
        </p:txBody>
      </p:sp>
      <p:sp>
        <p:nvSpPr>
          <p:cNvPr id="19" name="TextBox 18"/>
          <p:cNvSpPr txBox="1"/>
          <p:nvPr/>
        </p:nvSpPr>
        <p:spPr>
          <a:xfrm>
            <a:off x="2971800" y="3905250"/>
            <a:ext cx="7810500" cy="533400"/>
          </a:xfrm>
          <a:prstGeom prst="rect">
            <a:avLst/>
          </a:prstGeom>
          <a:noFill/>
        </p:spPr>
        <p:txBody>
          <a:bodyPr wrap="square" lIns="0" rIns="0" tIns="0" bIns="0" anchor="ctr">
            <a:spAutoFit/>
          </a:bodyPr>
          <a:lstStyle/>
          <a:p>
            <a:pPr algn="l">
              <a:lnSpc>
                <a:spcPct val="120000"/>
              </a:lnSpc>
            </a:pPr>
            <a:r>
              <a:rPr sz="1500" b="0">
                <a:solidFill>
                  <a:srgbClr val="14213D"/>
                </a:solidFill>
                <a:latin typeface="Arial"/>
              </a:rPr>
              <a:t>Founders sell alongside operations; CRM entry is a separate manual task.</a:t>
            </a:r>
          </a:p>
        </p:txBody>
      </p:sp>
      <p:sp>
        <p:nvSpPr>
          <p:cNvPr id="20" name="Rectangle 19"/>
          <p:cNvSpPr/>
          <p:nvPr/>
        </p:nvSpPr>
        <p:spPr>
          <a:xfrm>
            <a:off x="812800" y="4762500"/>
            <a:ext cx="10566400" cy="762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1400" y="4762500"/>
            <a:ext cx="1524000" cy="762000"/>
          </a:xfrm>
          <a:prstGeom prst="rect">
            <a:avLst/>
          </a:prstGeom>
          <a:noFill/>
        </p:spPr>
        <p:txBody>
          <a:bodyPr wrap="square" lIns="0" rIns="0" tIns="0" bIns="0" anchor="ctr">
            <a:spAutoFit/>
          </a:bodyPr>
          <a:lstStyle/>
          <a:p>
            <a:pPr algn="l">
              <a:lnSpc>
                <a:spcPct val="120000"/>
              </a:lnSpc>
            </a:pPr>
            <a:r>
              <a:rPr sz="1600" b="1">
                <a:solidFill>
                  <a:srgbClr val="E4572E"/>
                </a:solidFill>
                <a:latin typeface="Arial Narrow"/>
              </a:rPr>
              <a:t>ROOT CAUSE</a:t>
            </a:r>
          </a:p>
        </p:txBody>
      </p:sp>
      <p:sp>
        <p:nvSpPr>
          <p:cNvPr id="22" name="TextBox 21"/>
          <p:cNvSpPr txBox="1"/>
          <p:nvPr/>
        </p:nvSpPr>
        <p:spPr>
          <a:xfrm>
            <a:off x="2603500" y="4762500"/>
            <a:ext cx="8636000" cy="762000"/>
          </a:xfrm>
          <a:prstGeom prst="rect">
            <a:avLst/>
          </a:prstGeom>
          <a:noFill/>
        </p:spPr>
        <p:txBody>
          <a:bodyPr wrap="square" lIns="0" rIns="0" tIns="0" bIns="0" anchor="ctr">
            <a:spAutoFit/>
          </a:bodyPr>
          <a:lstStyle/>
          <a:p>
            <a:pPr algn="l">
              <a:lnSpc>
                <a:spcPct val="120000"/>
              </a:lnSpc>
            </a:pPr>
            <a:r>
              <a:rPr sz="1800" b="1">
                <a:solidFill>
                  <a:srgbClr val="F4F1EA"/>
                </a:solidFill>
                <a:latin typeface="Arial"/>
              </a:rPr>
              <a:t>The CRM is not connected to email, calendar, LinkedIn and meetings.</a:t>
            </a:r>
          </a:p>
        </p:txBody>
      </p:sp>
      <p:sp>
        <p:nvSpPr>
          <p:cNvPr id="51" name="TextBox 50"/>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3</a:t>
            </a:r>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4"/>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E4572E"/>
                </a:solidFill>
                <a:latin typeface="Arial"/>
              </a:rPr>
              <a:t>03 · What we built</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F4F1EA"/>
                </a:solidFill>
                <a:latin typeface="Arial Narrow"/>
              </a:rPr>
              <a:t>A working prototype that covers the whole sales loop</a:t>
            </a:r>
          </a:p>
        </p:txBody>
      </p:sp>
      <p:sp>
        <p:nvSpPr>
          <p:cNvPr id="4" name="Rectangle 3"/>
          <p:cNvSpPr/>
          <p:nvPr/>
        </p:nvSpPr>
        <p:spPr>
          <a:xfrm>
            <a:off x="812800" y="2413000"/>
            <a:ext cx="2508250" cy="2413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6800" y="2667000"/>
            <a:ext cx="35560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857500"/>
            <a:ext cx="200025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Capture</a:t>
            </a:r>
          </a:p>
        </p:txBody>
      </p:sp>
      <p:sp>
        <p:nvSpPr>
          <p:cNvPr id="7" name="TextBox 6"/>
          <p:cNvSpPr txBox="1"/>
          <p:nvPr/>
        </p:nvSpPr>
        <p:spPr>
          <a:xfrm>
            <a:off x="1066800" y="3333750"/>
            <a:ext cx="2000250" cy="1397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Emails, meeting notes and LinkedIn chats become draft CRM records. Internal reviews split into one draft per deal.</a:t>
            </a:r>
          </a:p>
        </p:txBody>
      </p:sp>
      <p:sp>
        <p:nvSpPr>
          <p:cNvPr id="8" name="Rectangle 7"/>
          <p:cNvSpPr/>
          <p:nvPr/>
        </p:nvSpPr>
        <p:spPr>
          <a:xfrm>
            <a:off x="3498850" y="2413000"/>
            <a:ext cx="2508250" cy="2413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52850" y="2667000"/>
            <a:ext cx="35560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52850" y="2857500"/>
            <a:ext cx="200025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Review</a:t>
            </a:r>
          </a:p>
        </p:txBody>
      </p:sp>
      <p:sp>
        <p:nvSpPr>
          <p:cNvPr id="11" name="TextBox 10"/>
          <p:cNvSpPr txBox="1"/>
          <p:nvPr/>
        </p:nvSpPr>
        <p:spPr>
          <a:xfrm>
            <a:off x="3752850" y="3333750"/>
            <a:ext cx="2000250" cy="1397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The deal owner confirms, edits or discards each draft. Every field shows the sentence it came from.</a:t>
            </a:r>
          </a:p>
        </p:txBody>
      </p:sp>
      <p:sp>
        <p:nvSpPr>
          <p:cNvPr id="12" name="Rectangle 11"/>
          <p:cNvSpPr/>
          <p:nvPr/>
        </p:nvSpPr>
        <p:spPr>
          <a:xfrm>
            <a:off x="6184900" y="2413000"/>
            <a:ext cx="2508250" cy="2413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38900" y="2667000"/>
            <a:ext cx="35560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8900" y="2857500"/>
            <a:ext cx="200025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Follow up</a:t>
            </a:r>
          </a:p>
        </p:txBody>
      </p:sp>
      <p:sp>
        <p:nvSpPr>
          <p:cNvPr id="15" name="TextBox 14"/>
          <p:cNvSpPr txBox="1"/>
          <p:nvPr/>
        </p:nvSpPr>
        <p:spPr>
          <a:xfrm>
            <a:off x="6438900" y="3333750"/>
            <a:ext cx="2000250" cy="1397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Revisit dates and silent proposals become reminders with a live timer, plus a drafted reply to send.</a:t>
            </a:r>
          </a:p>
        </p:txBody>
      </p:sp>
      <p:sp>
        <p:nvSpPr>
          <p:cNvPr id="16" name="Rectangle 15"/>
          <p:cNvSpPr/>
          <p:nvPr/>
        </p:nvSpPr>
        <p:spPr>
          <a:xfrm>
            <a:off x="8870950" y="2413000"/>
            <a:ext cx="2508250" cy="2413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24950" y="2667000"/>
            <a:ext cx="35560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4950" y="2857500"/>
            <a:ext cx="200025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Pipeline</a:t>
            </a:r>
          </a:p>
        </p:txBody>
      </p:sp>
      <p:sp>
        <p:nvSpPr>
          <p:cNvPr id="19" name="TextBox 18"/>
          <p:cNvSpPr txBox="1"/>
          <p:nvPr/>
        </p:nvSpPr>
        <p:spPr>
          <a:xfrm>
            <a:off x="9124950" y="3333750"/>
            <a:ext cx="2000250" cy="1397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Dashboard, stage board and action queue show value at risk. Ask questions in plain English.</a:t>
            </a:r>
          </a:p>
        </p:txBody>
      </p:sp>
      <p:sp>
        <p:nvSpPr>
          <p:cNvPr id="20" name="TextBox 19"/>
          <p:cNvSpPr txBox="1"/>
          <p:nvPr/>
        </p:nvSpPr>
        <p:spPr>
          <a:xfrm>
            <a:off x="812800" y="5143500"/>
            <a:ext cx="10566400" cy="317500"/>
          </a:xfrm>
          <a:prstGeom prst="rect">
            <a:avLst/>
          </a:prstGeom>
          <a:noFill/>
        </p:spPr>
        <p:txBody>
          <a:bodyPr wrap="square" lIns="0" rIns="0" tIns="0" bIns="0" anchor="t">
            <a:spAutoFit/>
          </a:bodyPr>
          <a:lstStyle/>
          <a:p>
            <a:pPr algn="l">
              <a:lnSpc>
                <a:spcPct val="120000"/>
              </a:lnSpc>
            </a:pPr>
            <a:r>
              <a:rPr sz="1500" b="0">
                <a:solidFill>
                  <a:srgbClr val="B8C0CF"/>
                </a:solidFill>
                <a:latin typeface="Arial"/>
              </a:rPr>
              <a:t>Works end to end · 32 automated tests passing · live mailbox connection is next</a:t>
            </a:r>
          </a:p>
        </p:txBody>
      </p:sp>
      <p:sp>
        <p:nvSpPr>
          <p:cNvPr id="21" name="TextBox 20"/>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B8C0CF"/>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04 · How it works</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From conversation to follow-up, with the owner in control</a:t>
            </a:r>
          </a:p>
        </p:txBody>
      </p:sp>
      <p:sp>
        <p:nvSpPr>
          <p:cNvPr id="4" name="Rectangle 3"/>
          <p:cNvSpPr/>
          <p:nvPr/>
        </p:nvSpPr>
        <p:spPr>
          <a:xfrm>
            <a:off x="812800" y="2349500"/>
            <a:ext cx="1828800" cy="2159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349500"/>
            <a:ext cx="1828800" cy="38100"/>
          </a:xfrm>
          <a:prstGeom prst="rect">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5200" y="2514600"/>
            <a:ext cx="1524000" cy="508000"/>
          </a:xfrm>
          <a:prstGeom prst="rect">
            <a:avLst/>
          </a:prstGeom>
          <a:noFill/>
        </p:spPr>
        <p:txBody>
          <a:bodyPr wrap="square" lIns="0" rIns="0" tIns="0" bIns="0" anchor="b">
            <a:spAutoFit/>
          </a:bodyPr>
          <a:lstStyle/>
          <a:p>
            <a:pPr algn="l">
              <a:lnSpc>
                <a:spcPct val="100000"/>
              </a:lnSpc>
            </a:pPr>
            <a:r>
              <a:rPr sz="1600" b="1" cap="all">
                <a:solidFill>
                  <a:srgbClr val="14213D"/>
                </a:solidFill>
                <a:latin typeface="Arial Narrow"/>
              </a:rPr>
              <a:t>1 · Arrives</a:t>
            </a:r>
          </a:p>
        </p:txBody>
      </p:sp>
      <p:sp>
        <p:nvSpPr>
          <p:cNvPr id="7" name="TextBox 6"/>
          <p:cNvSpPr txBox="1"/>
          <p:nvPr/>
        </p:nvSpPr>
        <p:spPr>
          <a:xfrm>
            <a:off x="965200" y="3124200"/>
            <a:ext cx="1524000" cy="13335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Email, meeting note or LinkedIn chat. Excluded contacts skipped; bank details masked.</a:t>
            </a:r>
          </a:p>
        </p:txBody>
      </p:sp>
      <p:sp>
        <p:nvSpPr>
          <p:cNvPr id="8" name="Right Arrow 7"/>
          <p:cNvSpPr/>
          <p:nvPr/>
        </p:nvSpPr>
        <p:spPr>
          <a:xfrm>
            <a:off x="2717800" y="3365500"/>
            <a:ext cx="203200" cy="139700"/>
          </a:xfrm>
          <a:prstGeom prst="rightArrow">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97200" y="2349500"/>
            <a:ext cx="1828800" cy="2159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97200" y="2349500"/>
            <a:ext cx="1828800" cy="38100"/>
          </a:xfrm>
          <a:prstGeom prst="rect">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49600" y="2514600"/>
            <a:ext cx="1524000" cy="508000"/>
          </a:xfrm>
          <a:prstGeom prst="rect">
            <a:avLst/>
          </a:prstGeom>
          <a:noFill/>
        </p:spPr>
        <p:txBody>
          <a:bodyPr wrap="square" lIns="0" rIns="0" tIns="0" bIns="0" anchor="b">
            <a:spAutoFit/>
          </a:bodyPr>
          <a:lstStyle/>
          <a:p>
            <a:pPr algn="l">
              <a:lnSpc>
                <a:spcPct val="100000"/>
              </a:lnSpc>
            </a:pPr>
            <a:r>
              <a:rPr sz="1600" b="1" cap="all">
                <a:solidFill>
                  <a:srgbClr val="14213D"/>
                </a:solidFill>
                <a:latin typeface="Arial Narrow"/>
              </a:rPr>
              <a:t>2 · AI reads</a:t>
            </a:r>
          </a:p>
        </p:txBody>
      </p:sp>
      <p:sp>
        <p:nvSpPr>
          <p:cNvPr id="12" name="TextBox 11"/>
          <p:cNvSpPr txBox="1"/>
          <p:nvPr/>
        </p:nvSpPr>
        <p:spPr>
          <a:xfrm>
            <a:off x="3149600" y="3124200"/>
            <a:ext cx="1524000" cy="13335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Classifies it and drafts fields, next step and revisit dates. Every value is quoted.</a:t>
            </a:r>
          </a:p>
        </p:txBody>
      </p:sp>
      <p:sp>
        <p:nvSpPr>
          <p:cNvPr id="13" name="Right Arrow 12"/>
          <p:cNvSpPr/>
          <p:nvPr/>
        </p:nvSpPr>
        <p:spPr>
          <a:xfrm>
            <a:off x="4902200" y="3365500"/>
            <a:ext cx="203200" cy="139700"/>
          </a:xfrm>
          <a:prstGeom prst="rightArrow">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81600" y="2349500"/>
            <a:ext cx="1828800" cy="2159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81600" y="2349500"/>
            <a:ext cx="1828800" cy="38100"/>
          </a:xfrm>
          <a:prstGeom prst="rect">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34000" y="2514600"/>
            <a:ext cx="1524000" cy="508000"/>
          </a:xfrm>
          <a:prstGeom prst="rect">
            <a:avLst/>
          </a:prstGeom>
          <a:noFill/>
        </p:spPr>
        <p:txBody>
          <a:bodyPr wrap="square" lIns="0" rIns="0" tIns="0" bIns="0" anchor="b">
            <a:spAutoFit/>
          </a:bodyPr>
          <a:lstStyle/>
          <a:p>
            <a:pPr algn="l">
              <a:lnSpc>
                <a:spcPct val="100000"/>
              </a:lnSpc>
            </a:pPr>
            <a:r>
              <a:rPr sz="1600" b="1" cap="all">
                <a:solidFill>
                  <a:srgbClr val="14213D"/>
                </a:solidFill>
                <a:latin typeface="Arial Narrow"/>
              </a:rPr>
              <a:t>3 · AI matches</a:t>
            </a:r>
          </a:p>
        </p:txBody>
      </p:sp>
      <p:sp>
        <p:nvSpPr>
          <p:cNvPr id="17" name="TextBox 16"/>
          <p:cNvSpPr txBox="1"/>
          <p:nvPr/>
        </p:nvSpPr>
        <p:spPr>
          <a:xfrm>
            <a:off x="5334000" y="3124200"/>
            <a:ext cx="1524000" cy="13335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Finds the existing deal or proposes a new lead, so the CRM gets no duplicates.</a:t>
            </a:r>
          </a:p>
        </p:txBody>
      </p:sp>
      <p:sp>
        <p:nvSpPr>
          <p:cNvPr id="18" name="Right Arrow 17"/>
          <p:cNvSpPr/>
          <p:nvPr/>
        </p:nvSpPr>
        <p:spPr>
          <a:xfrm>
            <a:off x="7086600" y="3365500"/>
            <a:ext cx="203200" cy="139700"/>
          </a:xfrm>
          <a:prstGeom prst="rightArrow">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6000" y="2349500"/>
            <a:ext cx="1828800" cy="2159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6000" y="2349500"/>
            <a:ext cx="182880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18400" y="2514600"/>
            <a:ext cx="1524000" cy="508000"/>
          </a:xfrm>
          <a:prstGeom prst="rect">
            <a:avLst/>
          </a:prstGeom>
          <a:noFill/>
        </p:spPr>
        <p:txBody>
          <a:bodyPr wrap="square" lIns="0" rIns="0" tIns="0" bIns="0" anchor="b">
            <a:spAutoFit/>
          </a:bodyPr>
          <a:lstStyle/>
          <a:p>
            <a:pPr algn="l">
              <a:lnSpc>
                <a:spcPct val="100000"/>
              </a:lnSpc>
            </a:pPr>
            <a:r>
              <a:rPr sz="1600" b="1" cap="all">
                <a:solidFill>
                  <a:srgbClr val="E4572E"/>
                </a:solidFill>
                <a:latin typeface="Arial Narrow"/>
              </a:rPr>
              <a:t>4 · Owner confirms</a:t>
            </a:r>
          </a:p>
        </p:txBody>
      </p:sp>
      <p:sp>
        <p:nvSpPr>
          <p:cNvPr id="22" name="TextBox 21"/>
          <p:cNvSpPr txBox="1"/>
          <p:nvPr/>
        </p:nvSpPr>
        <p:spPr>
          <a:xfrm>
            <a:off x="7518400" y="3124200"/>
            <a:ext cx="1524000" cy="1333500"/>
          </a:xfrm>
          <a:prstGeom prst="rect">
            <a:avLst/>
          </a:prstGeom>
          <a:noFill/>
        </p:spPr>
        <p:txBody>
          <a:bodyPr wrap="square" lIns="0" rIns="0" tIns="0" bIns="0" anchor="t">
            <a:spAutoFit/>
          </a:bodyPr>
          <a:lstStyle/>
          <a:p>
            <a:pPr algn="l">
              <a:lnSpc>
                <a:spcPct val="130000"/>
              </a:lnSpc>
            </a:pPr>
            <a:r>
              <a:rPr sz="1300" b="0">
                <a:solidFill>
                  <a:srgbClr val="F4F1EA"/>
                </a:solidFill>
                <a:latin typeface="Arial"/>
              </a:rPr>
              <a:t>Confirm, edit or discard in under a minute. Only then is the CRM updated.</a:t>
            </a:r>
          </a:p>
        </p:txBody>
      </p:sp>
      <p:sp>
        <p:nvSpPr>
          <p:cNvPr id="23" name="Right Arrow 22"/>
          <p:cNvSpPr/>
          <p:nvPr/>
        </p:nvSpPr>
        <p:spPr>
          <a:xfrm>
            <a:off x="9271000" y="3365500"/>
            <a:ext cx="203200" cy="139700"/>
          </a:xfrm>
          <a:prstGeom prst="rightArrow">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50400" y="2349500"/>
            <a:ext cx="1828800" cy="2159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50400" y="2349500"/>
            <a:ext cx="1828800" cy="38100"/>
          </a:xfrm>
          <a:prstGeom prst="rect">
            <a:avLst/>
          </a:prstGeom>
          <a:solidFill>
            <a:srgbClr val="8A92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02800" y="2514600"/>
            <a:ext cx="1524000" cy="508000"/>
          </a:xfrm>
          <a:prstGeom prst="rect">
            <a:avLst/>
          </a:prstGeom>
          <a:noFill/>
        </p:spPr>
        <p:txBody>
          <a:bodyPr wrap="square" lIns="0" rIns="0" tIns="0" bIns="0" anchor="b">
            <a:spAutoFit/>
          </a:bodyPr>
          <a:lstStyle/>
          <a:p>
            <a:pPr algn="l">
              <a:lnSpc>
                <a:spcPct val="100000"/>
              </a:lnSpc>
            </a:pPr>
            <a:r>
              <a:rPr sz="1600" b="1" cap="all">
                <a:solidFill>
                  <a:srgbClr val="14213D"/>
                </a:solidFill>
                <a:latin typeface="Arial Narrow"/>
              </a:rPr>
              <a:t>5 · Follow-up</a:t>
            </a:r>
          </a:p>
        </p:txBody>
      </p:sp>
      <p:sp>
        <p:nvSpPr>
          <p:cNvPr id="27" name="TextBox 26"/>
          <p:cNvSpPr txBox="1"/>
          <p:nvPr/>
        </p:nvSpPr>
        <p:spPr>
          <a:xfrm>
            <a:off x="9702800" y="3124200"/>
            <a:ext cx="1524000" cy="13335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Reminder with a live timer and a drafted reply. The owner sends it.</a:t>
            </a:r>
          </a:p>
        </p:txBody>
      </p:sp>
      <p:sp>
        <p:nvSpPr>
          <p:cNvPr id="28" name="Rectangle 27"/>
          <p:cNvSpPr/>
          <p:nvPr/>
        </p:nvSpPr>
        <p:spPr>
          <a:xfrm>
            <a:off x="812800" y="4762500"/>
            <a:ext cx="10566400" cy="635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41400" y="5003800"/>
            <a:ext cx="152400" cy="1524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46200" y="4762500"/>
            <a:ext cx="9906000" cy="635000"/>
          </a:xfrm>
          <a:prstGeom prst="rect">
            <a:avLst/>
          </a:prstGeom>
          <a:noFill/>
        </p:spPr>
        <p:txBody>
          <a:bodyPr wrap="square" lIns="0" rIns="0" tIns="0" bIns="0" anchor="ctr">
            <a:spAutoFit/>
          </a:bodyPr>
          <a:lstStyle/>
          <a:p>
            <a:pPr algn="l">
              <a:lnSpc>
                <a:spcPct val="120000"/>
              </a:lnSpc>
            </a:pPr>
            <a:r>
              <a:rPr sz="1600" b="1">
                <a:solidFill>
                  <a:srgbClr val="F4F1EA"/>
                </a:solidFill>
                <a:latin typeface="Arial"/>
              </a:rPr>
              <a:t>Nothing is saved to the CRM, and no client is contacted, without the deal owner.</a:t>
            </a:r>
          </a:p>
        </p:txBody>
      </p:sp>
      <p:sp>
        <p:nvSpPr>
          <p:cNvPr id="31" name="TextBox 30"/>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Every step is written to an append-only action log</a:t>
            </a:r>
          </a:p>
        </p:txBody>
      </p:sp>
      <p:sp>
        <p:nvSpPr>
          <p:cNvPr id="32" name="TextBox 31"/>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05 · The prototype</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What a founder sees each morning</a:t>
            </a:r>
          </a:p>
        </p:txBody>
      </p:sp>
      <p:sp>
        <p:nvSpPr>
          <p:cNvPr id="4" name="TextBox 3"/>
          <p:cNvSpPr txBox="1"/>
          <p:nvPr/>
        </p:nvSpPr>
        <p:spPr>
          <a:xfrm>
            <a:off x="812800" y="2349500"/>
            <a:ext cx="5156200" cy="317500"/>
          </a:xfrm>
          <a:prstGeom prst="rect">
            <a:avLst/>
          </a:prstGeom>
          <a:noFill/>
        </p:spPr>
        <p:txBody>
          <a:bodyPr wrap="square" lIns="0" rIns="0" tIns="0" bIns="0" anchor="t">
            <a:spAutoFit/>
          </a:bodyPr>
          <a:lstStyle/>
          <a:p>
            <a:pPr algn="l">
              <a:lnSpc>
                <a:spcPct val="120000"/>
              </a:lnSpc>
            </a:pPr>
            <a:r>
              <a:rPr sz="1800" b="1" cap="all">
                <a:solidFill>
                  <a:srgbClr val="14213D"/>
                </a:solidFill>
                <a:latin typeface="Arial Narrow"/>
              </a:rPr>
              <a:t>Follow-ups</a:t>
            </a:r>
          </a:p>
        </p:txBody>
      </p:sp>
      <p:sp>
        <p:nvSpPr>
          <p:cNvPr id="5" name="Rectangle 4"/>
          <p:cNvSpPr/>
          <p:nvPr/>
        </p:nvSpPr>
        <p:spPr>
          <a:xfrm>
            <a:off x="812800" y="2730500"/>
            <a:ext cx="5156200" cy="635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12800" y="2730500"/>
            <a:ext cx="63500" cy="635000"/>
          </a:xfrm>
          <a:prstGeom prst="rect">
            <a:avLst/>
          </a:prstGeom>
          <a:solidFill>
            <a:srgbClr val="B2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4100" y="2819400"/>
            <a:ext cx="3302000" cy="254000"/>
          </a:xfrm>
          <a:prstGeom prst="rect">
            <a:avLst/>
          </a:prstGeom>
          <a:noFill/>
        </p:spPr>
        <p:txBody>
          <a:bodyPr wrap="square" lIns="0" rIns="0" tIns="0" bIns="0" anchor="t">
            <a:spAutoFit/>
          </a:bodyPr>
          <a:lstStyle/>
          <a:p>
            <a:pPr algn="l">
              <a:lnSpc>
                <a:spcPct val="120000"/>
              </a:lnSpc>
            </a:pPr>
            <a:r>
              <a:rPr sz="1500" b="1">
                <a:solidFill>
                  <a:srgbClr val="14213D"/>
                </a:solidFill>
                <a:latin typeface="Arial"/>
              </a:rPr>
              <a:t>Client A</a:t>
            </a:r>
          </a:p>
        </p:txBody>
      </p:sp>
      <p:sp>
        <p:nvSpPr>
          <p:cNvPr id="8" name="TextBox 7"/>
          <p:cNvSpPr txBox="1"/>
          <p:nvPr/>
        </p:nvSpPr>
        <p:spPr>
          <a:xfrm>
            <a:off x="1054100" y="3086100"/>
            <a:ext cx="3302000" cy="2159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Proposal waiting for a reply</a:t>
            </a:r>
          </a:p>
        </p:txBody>
      </p:sp>
      <p:sp>
        <p:nvSpPr>
          <p:cNvPr id="9" name="TextBox 8"/>
          <p:cNvSpPr txBox="1"/>
          <p:nvPr/>
        </p:nvSpPr>
        <p:spPr>
          <a:xfrm>
            <a:off x="4318000" y="2730500"/>
            <a:ext cx="1498600" cy="635000"/>
          </a:xfrm>
          <a:prstGeom prst="rect">
            <a:avLst/>
          </a:prstGeom>
          <a:noFill/>
        </p:spPr>
        <p:txBody>
          <a:bodyPr wrap="square" lIns="0" rIns="0" tIns="0" bIns="0" anchor="ctr">
            <a:spAutoFit/>
          </a:bodyPr>
          <a:lstStyle/>
          <a:p>
            <a:pPr algn="r">
              <a:lnSpc>
                <a:spcPct val="120000"/>
              </a:lnSpc>
            </a:pPr>
            <a:r>
              <a:rPr sz="2000" b="1">
                <a:solidFill>
                  <a:srgbClr val="B23A1B"/>
                </a:solidFill>
                <a:latin typeface="Arial Narrow"/>
              </a:rPr>
              <a:t>Overdue 3d</a:t>
            </a:r>
          </a:p>
        </p:txBody>
      </p:sp>
      <p:sp>
        <p:nvSpPr>
          <p:cNvPr id="10" name="Rectangle 9"/>
          <p:cNvSpPr/>
          <p:nvPr/>
        </p:nvSpPr>
        <p:spPr>
          <a:xfrm>
            <a:off x="812800" y="3460750"/>
            <a:ext cx="5156200" cy="635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800" y="3460750"/>
            <a:ext cx="63500" cy="635000"/>
          </a:xfrm>
          <a:prstGeom prst="rect">
            <a:avLst/>
          </a:prstGeom>
          <a:solidFill>
            <a:srgbClr val="C77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4100" y="3549650"/>
            <a:ext cx="3302000" cy="254000"/>
          </a:xfrm>
          <a:prstGeom prst="rect">
            <a:avLst/>
          </a:prstGeom>
          <a:noFill/>
        </p:spPr>
        <p:txBody>
          <a:bodyPr wrap="square" lIns="0" rIns="0" tIns="0" bIns="0" anchor="t">
            <a:spAutoFit/>
          </a:bodyPr>
          <a:lstStyle/>
          <a:p>
            <a:pPr algn="l">
              <a:lnSpc>
                <a:spcPct val="120000"/>
              </a:lnSpc>
            </a:pPr>
            <a:r>
              <a:rPr sz="1500" b="1">
                <a:solidFill>
                  <a:srgbClr val="14213D"/>
                </a:solidFill>
                <a:latin typeface="Arial"/>
              </a:rPr>
              <a:t>Client B</a:t>
            </a:r>
          </a:p>
        </p:txBody>
      </p:sp>
      <p:sp>
        <p:nvSpPr>
          <p:cNvPr id="13" name="TextBox 12"/>
          <p:cNvSpPr txBox="1"/>
          <p:nvPr/>
        </p:nvSpPr>
        <p:spPr>
          <a:xfrm>
            <a:off x="1054100" y="3816350"/>
            <a:ext cx="3302000" cy="2159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Promised a scope note</a:t>
            </a:r>
          </a:p>
        </p:txBody>
      </p:sp>
      <p:sp>
        <p:nvSpPr>
          <p:cNvPr id="14" name="TextBox 13"/>
          <p:cNvSpPr txBox="1"/>
          <p:nvPr/>
        </p:nvSpPr>
        <p:spPr>
          <a:xfrm>
            <a:off x="4318000" y="3460750"/>
            <a:ext cx="1498600" cy="635000"/>
          </a:xfrm>
          <a:prstGeom prst="rect">
            <a:avLst/>
          </a:prstGeom>
          <a:noFill/>
        </p:spPr>
        <p:txBody>
          <a:bodyPr wrap="square" lIns="0" rIns="0" tIns="0" bIns="0" anchor="ctr">
            <a:spAutoFit/>
          </a:bodyPr>
          <a:lstStyle/>
          <a:p>
            <a:pPr algn="r">
              <a:lnSpc>
                <a:spcPct val="120000"/>
              </a:lnSpc>
            </a:pPr>
            <a:r>
              <a:rPr sz="2000" b="1">
                <a:solidFill>
                  <a:srgbClr val="8A5410"/>
                </a:solidFill>
                <a:latin typeface="Arial Narrow"/>
              </a:rPr>
              <a:t>Due in 6h</a:t>
            </a:r>
          </a:p>
        </p:txBody>
      </p:sp>
      <p:sp>
        <p:nvSpPr>
          <p:cNvPr id="15" name="Rectangle 14"/>
          <p:cNvSpPr/>
          <p:nvPr/>
        </p:nvSpPr>
        <p:spPr>
          <a:xfrm>
            <a:off x="812800" y="4191000"/>
            <a:ext cx="5156200" cy="6350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800" y="4191000"/>
            <a:ext cx="63500" cy="635000"/>
          </a:xfrm>
          <a:prstGeom prst="rect">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4100" y="4279900"/>
            <a:ext cx="3302000" cy="254000"/>
          </a:xfrm>
          <a:prstGeom prst="rect">
            <a:avLst/>
          </a:prstGeom>
          <a:noFill/>
        </p:spPr>
        <p:txBody>
          <a:bodyPr wrap="square" lIns="0" rIns="0" tIns="0" bIns="0" anchor="t">
            <a:spAutoFit/>
          </a:bodyPr>
          <a:lstStyle/>
          <a:p>
            <a:pPr algn="l">
              <a:lnSpc>
                <a:spcPct val="120000"/>
              </a:lnSpc>
            </a:pPr>
            <a:r>
              <a:rPr sz="1500" b="1">
                <a:solidFill>
                  <a:srgbClr val="14213D"/>
                </a:solidFill>
                <a:latin typeface="Arial"/>
              </a:rPr>
              <a:t>Client C</a:t>
            </a:r>
          </a:p>
        </p:txBody>
      </p:sp>
      <p:sp>
        <p:nvSpPr>
          <p:cNvPr id="18" name="TextBox 17"/>
          <p:cNvSpPr txBox="1"/>
          <p:nvPr/>
        </p:nvSpPr>
        <p:spPr>
          <a:xfrm>
            <a:off x="1054100" y="4546600"/>
            <a:ext cx="3302000" cy="2159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Asked to revisit next quarter</a:t>
            </a:r>
          </a:p>
        </p:txBody>
      </p:sp>
      <p:sp>
        <p:nvSpPr>
          <p:cNvPr id="19" name="TextBox 18"/>
          <p:cNvSpPr txBox="1"/>
          <p:nvPr/>
        </p:nvSpPr>
        <p:spPr>
          <a:xfrm>
            <a:off x="4318000" y="4191000"/>
            <a:ext cx="1498600" cy="635000"/>
          </a:xfrm>
          <a:prstGeom prst="rect">
            <a:avLst/>
          </a:prstGeom>
          <a:noFill/>
        </p:spPr>
        <p:txBody>
          <a:bodyPr wrap="square" lIns="0" rIns="0" tIns="0" bIns="0" anchor="ctr">
            <a:spAutoFit/>
          </a:bodyPr>
          <a:lstStyle/>
          <a:p>
            <a:pPr algn="r">
              <a:lnSpc>
                <a:spcPct val="120000"/>
              </a:lnSpc>
            </a:pPr>
            <a:r>
              <a:rPr sz="2000" b="1">
                <a:solidFill>
                  <a:srgbClr val="2F6B47"/>
                </a:solidFill>
                <a:latin typeface="Arial Narrow"/>
              </a:rPr>
              <a:t>Due in 12d</a:t>
            </a:r>
          </a:p>
        </p:txBody>
      </p:sp>
      <p:sp>
        <p:nvSpPr>
          <p:cNvPr id="20" name="TextBox 19"/>
          <p:cNvSpPr txBox="1"/>
          <p:nvPr/>
        </p:nvSpPr>
        <p:spPr>
          <a:xfrm>
            <a:off x="812800" y="4984750"/>
            <a:ext cx="5156200" cy="5080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One card per deal, most urgent first, with a one-click drafted reply.</a:t>
            </a:r>
          </a:p>
        </p:txBody>
      </p:sp>
      <p:sp>
        <p:nvSpPr>
          <p:cNvPr id="21" name="TextBox 20"/>
          <p:cNvSpPr txBox="1"/>
          <p:nvPr/>
        </p:nvSpPr>
        <p:spPr>
          <a:xfrm>
            <a:off x="6223000" y="2349500"/>
            <a:ext cx="5156200" cy="317500"/>
          </a:xfrm>
          <a:prstGeom prst="rect">
            <a:avLst/>
          </a:prstGeom>
          <a:noFill/>
        </p:spPr>
        <p:txBody>
          <a:bodyPr wrap="square" lIns="0" rIns="0" tIns="0" bIns="0" anchor="t">
            <a:spAutoFit/>
          </a:bodyPr>
          <a:lstStyle/>
          <a:p>
            <a:pPr algn="l">
              <a:lnSpc>
                <a:spcPct val="120000"/>
              </a:lnSpc>
            </a:pPr>
            <a:r>
              <a:rPr sz="1800" b="1" cap="all">
                <a:solidFill>
                  <a:srgbClr val="14213D"/>
                </a:solidFill>
                <a:latin typeface="Arial Narrow"/>
              </a:rPr>
              <a:t>Pipeline health</a:t>
            </a:r>
          </a:p>
        </p:txBody>
      </p:sp>
      <p:sp>
        <p:nvSpPr>
          <p:cNvPr id="22" name="Rectangle 21"/>
          <p:cNvSpPr/>
          <p:nvPr/>
        </p:nvSpPr>
        <p:spPr>
          <a:xfrm>
            <a:off x="6223000" y="2730500"/>
            <a:ext cx="1651000" cy="2095500"/>
          </a:xfrm>
          <a:prstGeom prst="rect">
            <a:avLst/>
          </a:prstGeom>
          <a:solidFill>
            <a:srgbClr val="E9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7300" y="2844800"/>
            <a:ext cx="1422400" cy="254000"/>
          </a:xfrm>
          <a:prstGeom prst="rect">
            <a:avLst/>
          </a:prstGeom>
          <a:noFill/>
        </p:spPr>
        <p:txBody>
          <a:bodyPr wrap="square" lIns="0" rIns="0" tIns="0" bIns="0" anchor="t">
            <a:spAutoFit/>
          </a:bodyPr>
          <a:lstStyle/>
          <a:p>
            <a:pPr algn="l">
              <a:lnSpc>
                <a:spcPct val="120000"/>
              </a:lnSpc>
            </a:pPr>
            <a:r>
              <a:rPr sz="1300" b="1" cap="all">
                <a:solidFill>
                  <a:srgbClr val="14213D"/>
                </a:solidFill>
                <a:latin typeface="Arial Narrow"/>
              </a:rPr>
              <a:t>New</a:t>
            </a:r>
          </a:p>
        </p:txBody>
      </p:sp>
      <p:sp>
        <p:nvSpPr>
          <p:cNvPr id="24" name="Rectangle 23"/>
          <p:cNvSpPr/>
          <p:nvPr/>
        </p:nvSpPr>
        <p:spPr>
          <a:xfrm>
            <a:off x="6337300" y="3175000"/>
            <a:ext cx="1422400" cy="6858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6200" y="3263900"/>
            <a:ext cx="1244600" cy="2286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Client D</a:t>
            </a:r>
          </a:p>
        </p:txBody>
      </p:sp>
      <p:sp>
        <p:nvSpPr>
          <p:cNvPr id="26" name="TextBox 25"/>
          <p:cNvSpPr txBox="1"/>
          <p:nvPr/>
        </p:nvSpPr>
        <p:spPr>
          <a:xfrm>
            <a:off x="6426200" y="3530600"/>
            <a:ext cx="1244600" cy="228600"/>
          </a:xfrm>
          <a:prstGeom prst="rect">
            <a:avLst/>
          </a:prstGeom>
          <a:noFill/>
        </p:spPr>
        <p:txBody>
          <a:bodyPr wrap="square" lIns="0" rIns="0" tIns="0" bIns="0" anchor="t">
            <a:spAutoFit/>
          </a:bodyPr>
          <a:lstStyle/>
          <a:p>
            <a:pPr algn="l">
              <a:lnSpc>
                <a:spcPct val="120000"/>
              </a:lnSpc>
            </a:pPr>
            <a:r>
              <a:rPr sz="1200" b="0">
                <a:solidFill>
                  <a:srgbClr val="B23A1B"/>
                </a:solidFill>
                <a:latin typeface="Arial"/>
              </a:rPr>
              <a:t>Assign owner</a:t>
            </a:r>
          </a:p>
        </p:txBody>
      </p:sp>
      <p:sp>
        <p:nvSpPr>
          <p:cNvPr id="27" name="Rectangle 26"/>
          <p:cNvSpPr/>
          <p:nvPr/>
        </p:nvSpPr>
        <p:spPr>
          <a:xfrm>
            <a:off x="6337300" y="3962400"/>
            <a:ext cx="1422400" cy="6858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6200" y="4051300"/>
            <a:ext cx="1244600" cy="2286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Client E</a:t>
            </a:r>
          </a:p>
        </p:txBody>
      </p:sp>
      <p:sp>
        <p:nvSpPr>
          <p:cNvPr id="29" name="TextBox 28"/>
          <p:cNvSpPr txBox="1"/>
          <p:nvPr/>
        </p:nvSpPr>
        <p:spPr>
          <a:xfrm>
            <a:off x="6426200" y="4318000"/>
            <a:ext cx="1244600" cy="2286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Next step set</a:t>
            </a:r>
          </a:p>
        </p:txBody>
      </p:sp>
      <p:sp>
        <p:nvSpPr>
          <p:cNvPr id="30" name="Rectangle 29"/>
          <p:cNvSpPr/>
          <p:nvPr/>
        </p:nvSpPr>
        <p:spPr>
          <a:xfrm>
            <a:off x="7975600" y="2730500"/>
            <a:ext cx="1651000" cy="2095500"/>
          </a:xfrm>
          <a:prstGeom prst="rect">
            <a:avLst/>
          </a:prstGeom>
          <a:solidFill>
            <a:srgbClr val="E9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9900" y="2844800"/>
            <a:ext cx="1422400" cy="254000"/>
          </a:xfrm>
          <a:prstGeom prst="rect">
            <a:avLst/>
          </a:prstGeom>
          <a:noFill/>
        </p:spPr>
        <p:txBody>
          <a:bodyPr wrap="square" lIns="0" rIns="0" tIns="0" bIns="0" anchor="t">
            <a:spAutoFit/>
          </a:bodyPr>
          <a:lstStyle/>
          <a:p>
            <a:pPr algn="l">
              <a:lnSpc>
                <a:spcPct val="120000"/>
              </a:lnSpc>
            </a:pPr>
            <a:r>
              <a:rPr sz="1300" b="1" cap="all">
                <a:solidFill>
                  <a:srgbClr val="14213D"/>
                </a:solidFill>
                <a:latin typeface="Arial Narrow"/>
              </a:rPr>
              <a:t>Contacted</a:t>
            </a:r>
          </a:p>
        </p:txBody>
      </p:sp>
      <p:sp>
        <p:nvSpPr>
          <p:cNvPr id="32" name="Rectangle 31"/>
          <p:cNvSpPr/>
          <p:nvPr/>
        </p:nvSpPr>
        <p:spPr>
          <a:xfrm>
            <a:off x="8089900" y="3175000"/>
            <a:ext cx="1422400" cy="6858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78800" y="3263900"/>
            <a:ext cx="1244600" cy="2286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Client F</a:t>
            </a:r>
          </a:p>
        </p:txBody>
      </p:sp>
      <p:sp>
        <p:nvSpPr>
          <p:cNvPr id="34" name="TextBox 33"/>
          <p:cNvSpPr txBox="1"/>
          <p:nvPr/>
        </p:nvSpPr>
        <p:spPr>
          <a:xfrm>
            <a:off x="8178800" y="3530600"/>
            <a:ext cx="1244600" cy="228600"/>
          </a:xfrm>
          <a:prstGeom prst="rect">
            <a:avLst/>
          </a:prstGeom>
          <a:noFill/>
        </p:spPr>
        <p:txBody>
          <a:bodyPr wrap="square" lIns="0" rIns="0" tIns="0" bIns="0" anchor="t">
            <a:spAutoFit/>
          </a:bodyPr>
          <a:lstStyle/>
          <a:p>
            <a:pPr algn="l">
              <a:lnSpc>
                <a:spcPct val="120000"/>
              </a:lnSpc>
            </a:pPr>
            <a:r>
              <a:rPr sz="1200" b="0">
                <a:solidFill>
                  <a:srgbClr val="B23A1B"/>
                </a:solidFill>
                <a:latin typeface="Arial"/>
              </a:rPr>
              <a:t>Quiet 3 weeks</a:t>
            </a:r>
          </a:p>
        </p:txBody>
      </p:sp>
      <p:sp>
        <p:nvSpPr>
          <p:cNvPr id="35" name="Rectangle 34"/>
          <p:cNvSpPr/>
          <p:nvPr/>
        </p:nvSpPr>
        <p:spPr>
          <a:xfrm>
            <a:off x="8089900" y="3962400"/>
            <a:ext cx="1422400" cy="6858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78800" y="4051300"/>
            <a:ext cx="1244600" cy="2286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Client G</a:t>
            </a:r>
          </a:p>
        </p:txBody>
      </p:sp>
      <p:sp>
        <p:nvSpPr>
          <p:cNvPr id="37" name="TextBox 36"/>
          <p:cNvSpPr txBox="1"/>
          <p:nvPr/>
        </p:nvSpPr>
        <p:spPr>
          <a:xfrm>
            <a:off x="8178800" y="4318000"/>
            <a:ext cx="1244600" cy="2286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Next step set</a:t>
            </a:r>
          </a:p>
        </p:txBody>
      </p:sp>
      <p:sp>
        <p:nvSpPr>
          <p:cNvPr id="38" name="Rectangle 37"/>
          <p:cNvSpPr/>
          <p:nvPr/>
        </p:nvSpPr>
        <p:spPr>
          <a:xfrm>
            <a:off x="9728200" y="2730500"/>
            <a:ext cx="1651000" cy="2095500"/>
          </a:xfrm>
          <a:prstGeom prst="rect">
            <a:avLst/>
          </a:prstGeom>
          <a:solidFill>
            <a:srgbClr val="E9E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42500" y="2844800"/>
            <a:ext cx="1422400" cy="254000"/>
          </a:xfrm>
          <a:prstGeom prst="rect">
            <a:avLst/>
          </a:prstGeom>
          <a:noFill/>
        </p:spPr>
        <p:txBody>
          <a:bodyPr wrap="square" lIns="0" rIns="0" tIns="0" bIns="0" anchor="t">
            <a:spAutoFit/>
          </a:bodyPr>
          <a:lstStyle/>
          <a:p>
            <a:pPr algn="l">
              <a:lnSpc>
                <a:spcPct val="120000"/>
              </a:lnSpc>
            </a:pPr>
            <a:r>
              <a:rPr sz="1300" b="1" cap="all">
                <a:solidFill>
                  <a:srgbClr val="14213D"/>
                </a:solidFill>
                <a:latin typeface="Arial Narrow"/>
              </a:rPr>
              <a:t>Proposal</a:t>
            </a:r>
          </a:p>
        </p:txBody>
      </p:sp>
      <p:sp>
        <p:nvSpPr>
          <p:cNvPr id="40" name="Rectangle 39"/>
          <p:cNvSpPr/>
          <p:nvPr/>
        </p:nvSpPr>
        <p:spPr>
          <a:xfrm>
            <a:off x="9842500" y="3175000"/>
            <a:ext cx="1422400" cy="6858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31400" y="3263900"/>
            <a:ext cx="1244600" cy="2286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Client A</a:t>
            </a:r>
          </a:p>
        </p:txBody>
      </p:sp>
      <p:sp>
        <p:nvSpPr>
          <p:cNvPr id="42" name="TextBox 41"/>
          <p:cNvSpPr txBox="1"/>
          <p:nvPr/>
        </p:nvSpPr>
        <p:spPr>
          <a:xfrm>
            <a:off x="9931400" y="3530600"/>
            <a:ext cx="1244600" cy="228600"/>
          </a:xfrm>
          <a:prstGeom prst="rect">
            <a:avLst/>
          </a:prstGeom>
          <a:noFill/>
        </p:spPr>
        <p:txBody>
          <a:bodyPr wrap="square" lIns="0" rIns="0" tIns="0" bIns="0" anchor="t">
            <a:spAutoFit/>
          </a:bodyPr>
          <a:lstStyle/>
          <a:p>
            <a:pPr algn="l">
              <a:lnSpc>
                <a:spcPct val="120000"/>
              </a:lnSpc>
            </a:pPr>
            <a:r>
              <a:rPr sz="1200" b="0">
                <a:solidFill>
                  <a:srgbClr val="B23A1B"/>
                </a:solidFill>
                <a:latin typeface="Arial"/>
              </a:rPr>
              <a:t>No reply yet</a:t>
            </a:r>
          </a:p>
        </p:txBody>
      </p:sp>
      <p:sp>
        <p:nvSpPr>
          <p:cNvPr id="43" name="Rectangle 42"/>
          <p:cNvSpPr/>
          <p:nvPr/>
        </p:nvSpPr>
        <p:spPr>
          <a:xfrm>
            <a:off x="9842500" y="3962400"/>
            <a:ext cx="1422400" cy="6858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31400" y="4051300"/>
            <a:ext cx="1244600" cy="2286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Client H</a:t>
            </a:r>
          </a:p>
        </p:txBody>
      </p:sp>
      <p:sp>
        <p:nvSpPr>
          <p:cNvPr id="45" name="TextBox 44"/>
          <p:cNvSpPr txBox="1"/>
          <p:nvPr/>
        </p:nvSpPr>
        <p:spPr>
          <a:xfrm>
            <a:off x="9931400" y="4318000"/>
            <a:ext cx="1244600" cy="2286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Next step set</a:t>
            </a:r>
          </a:p>
        </p:txBody>
      </p:sp>
      <p:sp>
        <p:nvSpPr>
          <p:cNvPr id="46" name="TextBox 45"/>
          <p:cNvSpPr txBox="1"/>
          <p:nvPr/>
        </p:nvSpPr>
        <p:spPr>
          <a:xfrm>
            <a:off x="6223000" y="4984750"/>
            <a:ext cx="5156200" cy="5080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Deals needing attention come first; assign owners and next steps from the board.</a:t>
            </a:r>
          </a:p>
        </p:txBody>
      </p:sp>
      <p:sp>
        <p:nvSpPr>
          <p:cNvPr id="47" name="TextBox 46"/>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Illustration of the prototype screens</a:t>
            </a:r>
          </a:p>
        </p:txBody>
      </p:sp>
      <p:sp>
        <p:nvSpPr>
          <p:cNvPr id="48" name="TextBox 47"/>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E4572E"/>
                </a:solidFill>
                <a:latin typeface="Arial"/>
              </a:rPr>
              <a:t>06 · Where AI is used</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F4F1EA"/>
                </a:solidFill>
                <a:latin typeface="Arial Narrow"/>
              </a:rPr>
              <a:t>Seven AI jobs, each with a human check</a:t>
            </a:r>
          </a:p>
        </p:txBody>
      </p:sp>
      <p:graphicFrame>
        <p:nvGraphicFramePr>
          <p:cNvPr id="4" name="Table 3"/>
          <p:cNvGraphicFramePr>
            <a:graphicFrameLocks noGrp="1"/>
          </p:cNvGraphicFramePr>
          <p:nvPr/>
        </p:nvGraphicFramePr>
        <p:xfrm>
          <a:off x="812800" y="2095500"/>
          <a:ext cx="10566400" cy="3759200"/>
        </p:xfrm>
        <a:graphic>
          <a:graphicData uri="http://schemas.openxmlformats.org/drawingml/2006/table">
            <a:tbl>
              <a:tblPr firstRow="1" bandRow="1">
                <a:tableStyleId>{2D5ABB26-0587-4C30-8999-92F81FD0307C}</a:tableStyleId>
              </a:tblPr>
              <a:tblGrid>
                <a:gridCol w="2324608"/>
                <a:gridCol w="5283200"/>
                <a:gridCol w="2958592"/>
              </a:tblGrid>
              <a:tr h="469900">
                <a:tc>
                  <a:txBody>
                    <a:bodyPr wrap="square"/>
                    <a:lstStyle/>
                    <a:p>
                      <a:pPr algn="l"/>
                      <a:r>
                        <a:rPr sz="1300" b="1">
                          <a:solidFill>
                            <a:srgbClr val="14213D"/>
                          </a:solidFill>
                          <a:latin typeface="Arial"/>
                        </a:rPr>
                        <a:t>AI job</a:t>
                      </a:r>
                    </a:p>
                  </a:txBody>
                  <a:tcPr marL="101600" marR="101600" marT="50800" marB="50800" anchor="ctr">
                    <a:solidFill>
                      <a:srgbClr val="E4572E"/>
                    </a:solidFill>
                  </a:tcPr>
                </a:tc>
                <a:tc>
                  <a:txBody>
                    <a:bodyPr wrap="square"/>
                    <a:lstStyle/>
                    <a:p>
                      <a:pPr algn="l"/>
                      <a:r>
                        <a:rPr sz="1300" b="1">
                          <a:solidFill>
                            <a:srgbClr val="14213D"/>
                          </a:solidFill>
                          <a:latin typeface="Arial"/>
                        </a:rPr>
                        <a:t>What it does</a:t>
                      </a:r>
                    </a:p>
                  </a:txBody>
                  <a:tcPr marL="101600" marR="101600" marT="50800" marB="50800" anchor="ctr">
                    <a:solidFill>
                      <a:srgbClr val="E4572E"/>
                    </a:solidFill>
                  </a:tcPr>
                </a:tc>
                <a:tc>
                  <a:txBody>
                    <a:bodyPr wrap="square"/>
                    <a:lstStyle/>
                    <a:p>
                      <a:pPr algn="l"/>
                      <a:r>
                        <a:rPr sz="1300" b="1">
                          <a:solidFill>
                            <a:srgbClr val="14213D"/>
                          </a:solidFill>
                          <a:latin typeface="Arial"/>
                        </a:rPr>
                        <a:t>Human control</a:t>
                      </a:r>
                    </a:p>
                  </a:txBody>
                  <a:tcPr marL="101600" marR="101600" marT="50800" marB="50800" anchor="ctr">
                    <a:solidFill>
                      <a:srgbClr val="E4572E"/>
                    </a:solidFill>
                  </a:tcPr>
                </a:tc>
              </a:tr>
              <a:tr h="469900">
                <a:tc>
                  <a:txBody>
                    <a:bodyPr wrap="square"/>
                    <a:lstStyle/>
                    <a:p>
                      <a:pPr algn="l"/>
                      <a:r>
                        <a:rPr sz="1300" b="1">
                          <a:solidFill>
                            <a:srgbClr val="F4F1EA"/>
                          </a:solidFill>
                          <a:latin typeface="Arial"/>
                        </a:rPr>
                        <a:t>Classify</a:t>
                      </a:r>
                    </a:p>
                  </a:txBody>
                  <a:tcPr marL="101600" marR="101600" marT="50800" marB="50800" anchor="ctr">
                    <a:solidFill>
                      <a:srgbClr val="1E2F52"/>
                    </a:solidFill>
                  </a:tcPr>
                </a:tc>
                <a:tc>
                  <a:txBody>
                    <a:bodyPr wrap="square"/>
                    <a:lstStyle/>
                    <a:p>
                      <a:pPr algn="l"/>
                      <a:r>
                        <a:rPr sz="1300" b="0">
                          <a:solidFill>
                            <a:srgbClr val="F4F1EA"/>
                          </a:solidFill>
                          <a:latin typeface="Arial"/>
                        </a:rPr>
                        <a:t>New lead, existing deal, existing client, internal note or not sales</a:t>
                      </a:r>
                    </a:p>
                  </a:txBody>
                  <a:tcPr marL="101600" marR="101600" marT="50800" marB="50800" anchor="ctr">
                    <a:solidFill>
                      <a:srgbClr val="1E2F52"/>
                    </a:solidFill>
                  </a:tcPr>
                </a:tc>
                <a:tc>
                  <a:txBody>
                    <a:bodyPr wrap="square"/>
                    <a:lstStyle/>
                    <a:p>
                      <a:pPr algn="l"/>
                      <a:r>
                        <a:rPr sz="1300" b="0">
                          <a:solidFill>
                            <a:srgbClr val="F4F1EA"/>
                          </a:solidFill>
                          <a:latin typeface="Arial"/>
                        </a:rPr>
                        <a:t>Personal items skipped</a:t>
                      </a:r>
                    </a:p>
                  </a:txBody>
                  <a:tcPr marL="101600" marR="101600" marT="50800" marB="50800" anchor="ctr">
                    <a:solidFill>
                      <a:srgbClr val="1E2F52"/>
                    </a:solidFill>
                  </a:tcPr>
                </a:tc>
              </a:tr>
              <a:tr h="469900">
                <a:tc>
                  <a:txBody>
                    <a:bodyPr wrap="square"/>
                    <a:lstStyle/>
                    <a:p>
                      <a:pPr algn="l"/>
                      <a:r>
                        <a:rPr sz="1300" b="1">
                          <a:solidFill>
                            <a:srgbClr val="F4F1EA"/>
                          </a:solidFill>
                          <a:latin typeface="Arial"/>
                        </a:rPr>
                        <a:t>Draft the record</a:t>
                      </a:r>
                    </a:p>
                  </a:txBody>
                  <a:tcPr marL="101600" marR="101600" marT="50800" marB="50800" anchor="ctr">
                    <a:solidFill>
                      <a:srgbClr val="14213D"/>
                    </a:solidFill>
                  </a:tcPr>
                </a:tc>
                <a:tc>
                  <a:txBody>
                    <a:bodyPr wrap="square"/>
                    <a:lstStyle/>
                    <a:p>
                      <a:pPr algn="l"/>
                      <a:r>
                        <a:rPr sz="1300" b="0">
                          <a:solidFill>
                            <a:srgbClr val="F4F1EA"/>
                          </a:solidFill>
                          <a:latin typeface="Arial"/>
                        </a:rPr>
                        <a:t>CRM fields and a short summary, every value quoted from the source</a:t>
                      </a:r>
                    </a:p>
                  </a:txBody>
                  <a:tcPr marL="101600" marR="101600" marT="50800" marB="50800" anchor="ctr">
                    <a:solidFill>
                      <a:srgbClr val="14213D"/>
                    </a:solidFill>
                  </a:tcPr>
                </a:tc>
                <a:tc>
                  <a:txBody>
                    <a:bodyPr wrap="square"/>
                    <a:lstStyle/>
                    <a:p>
                      <a:pPr algn="l"/>
                      <a:r>
                        <a:rPr sz="1300" b="0">
                          <a:solidFill>
                            <a:srgbClr val="F4F1EA"/>
                          </a:solidFill>
                          <a:latin typeface="Arial"/>
                        </a:rPr>
                        <a:t>Owner confirms before saving</a:t>
                      </a:r>
                    </a:p>
                  </a:txBody>
                  <a:tcPr marL="101600" marR="101600" marT="50800" marB="50800" anchor="ctr">
                    <a:solidFill>
                      <a:srgbClr val="14213D"/>
                    </a:solidFill>
                  </a:tcPr>
                </a:tc>
              </a:tr>
              <a:tr h="469900">
                <a:tc>
                  <a:txBody>
                    <a:bodyPr wrap="square"/>
                    <a:lstStyle/>
                    <a:p>
                      <a:pPr algn="l"/>
                      <a:r>
                        <a:rPr sz="1300" b="1">
                          <a:solidFill>
                            <a:srgbClr val="F4F1EA"/>
                          </a:solidFill>
                          <a:latin typeface="Arial"/>
                        </a:rPr>
                        <a:t>Find dates</a:t>
                      </a:r>
                    </a:p>
                  </a:txBody>
                  <a:tcPr marL="101600" marR="101600" marT="50800" marB="50800" anchor="ctr">
                    <a:solidFill>
                      <a:srgbClr val="1E2F52"/>
                    </a:solidFill>
                  </a:tcPr>
                </a:tc>
                <a:tc>
                  <a:txBody>
                    <a:bodyPr wrap="square"/>
                    <a:lstStyle/>
                    <a:p>
                      <a:pPr algn="l"/>
                      <a:r>
                        <a:rPr sz="1300" b="0">
                          <a:solidFill>
                            <a:srgbClr val="F4F1EA"/>
                          </a:solidFill>
                          <a:latin typeface="Arial"/>
                        </a:rPr>
                        <a:t>Revisit dates and deferrals, e.g. “check back next quarter”</a:t>
                      </a:r>
                    </a:p>
                  </a:txBody>
                  <a:tcPr marL="101600" marR="101600" marT="50800" marB="50800" anchor="ctr">
                    <a:solidFill>
                      <a:srgbClr val="1E2F52"/>
                    </a:solidFill>
                  </a:tcPr>
                </a:tc>
                <a:tc>
                  <a:txBody>
                    <a:bodyPr wrap="square"/>
                    <a:lstStyle/>
                    <a:p>
                      <a:pPr algn="l"/>
                      <a:r>
                        <a:rPr sz="1300" b="0">
                          <a:solidFill>
                            <a:srgbClr val="F4F1EA"/>
                          </a:solidFill>
                          <a:latin typeface="Arial"/>
                        </a:rPr>
                        <a:t>Becomes a reminder only</a:t>
                      </a:r>
                    </a:p>
                  </a:txBody>
                  <a:tcPr marL="101600" marR="101600" marT="50800" marB="50800" anchor="ctr">
                    <a:solidFill>
                      <a:srgbClr val="1E2F52"/>
                    </a:solidFill>
                  </a:tcPr>
                </a:tc>
              </a:tr>
              <a:tr h="469900">
                <a:tc>
                  <a:txBody>
                    <a:bodyPr wrap="square"/>
                    <a:lstStyle/>
                    <a:p>
                      <a:pPr algn="l"/>
                      <a:r>
                        <a:rPr sz="1300" b="1">
                          <a:solidFill>
                            <a:srgbClr val="F4F1EA"/>
                          </a:solidFill>
                          <a:latin typeface="Arial"/>
                        </a:rPr>
                        <a:t>Split notes</a:t>
                      </a:r>
                    </a:p>
                  </a:txBody>
                  <a:tcPr marL="101600" marR="101600" marT="50800" marB="50800" anchor="ctr">
                    <a:solidFill>
                      <a:srgbClr val="14213D"/>
                    </a:solidFill>
                  </a:tcPr>
                </a:tc>
                <a:tc>
                  <a:txBody>
                    <a:bodyPr wrap="square"/>
                    <a:lstStyle/>
                    <a:p>
                      <a:pPr algn="l"/>
                      <a:r>
                        <a:rPr sz="1300" b="0">
                          <a:solidFill>
                            <a:srgbClr val="F4F1EA"/>
                          </a:solidFill>
                          <a:latin typeface="Arial"/>
                        </a:rPr>
                        <a:t>A pipeline review becomes one update draft per deal</a:t>
                      </a:r>
                    </a:p>
                  </a:txBody>
                  <a:tcPr marL="101600" marR="101600" marT="50800" marB="50800" anchor="ctr">
                    <a:solidFill>
                      <a:srgbClr val="14213D"/>
                    </a:solidFill>
                  </a:tcPr>
                </a:tc>
                <a:tc>
                  <a:txBody>
                    <a:bodyPr wrap="square"/>
                    <a:lstStyle/>
                    <a:p>
                      <a:pPr algn="l"/>
                      <a:r>
                        <a:rPr sz="1300" b="0">
                          <a:solidFill>
                            <a:srgbClr val="F4F1EA"/>
                          </a:solidFill>
                          <a:latin typeface="Arial"/>
                        </a:rPr>
                        <a:t>Each draft confirmed</a:t>
                      </a:r>
                    </a:p>
                  </a:txBody>
                  <a:tcPr marL="101600" marR="101600" marT="50800" marB="50800" anchor="ctr">
                    <a:solidFill>
                      <a:srgbClr val="14213D"/>
                    </a:solidFill>
                  </a:tcPr>
                </a:tc>
              </a:tr>
              <a:tr h="469900">
                <a:tc>
                  <a:txBody>
                    <a:bodyPr wrap="square"/>
                    <a:lstStyle/>
                    <a:p>
                      <a:pPr algn="l"/>
                      <a:r>
                        <a:rPr sz="1300" b="1">
                          <a:solidFill>
                            <a:srgbClr val="F4F1EA"/>
                          </a:solidFill>
                          <a:latin typeface="Arial"/>
                        </a:rPr>
                        <a:t>Cross-sell</a:t>
                      </a:r>
                    </a:p>
                  </a:txBody>
                  <a:tcPr marL="101600" marR="101600" marT="50800" marB="50800" anchor="ctr">
                    <a:solidFill>
                      <a:srgbClr val="1E2F52"/>
                    </a:solidFill>
                  </a:tcPr>
                </a:tc>
                <a:tc>
                  <a:txBody>
                    <a:bodyPr wrap="square"/>
                    <a:lstStyle/>
                    <a:p>
                      <a:pPr algn="l"/>
                      <a:r>
                        <a:rPr sz="1300" b="0">
                          <a:solidFill>
                            <a:srgbClr val="F4F1EA"/>
                          </a:solidFill>
                          <a:latin typeface="Arial"/>
                        </a:rPr>
                        <a:t>Ideas from that client's own history and our service list</a:t>
                      </a:r>
                    </a:p>
                  </a:txBody>
                  <a:tcPr marL="101600" marR="101600" marT="50800" marB="50800" anchor="ctr">
                    <a:solidFill>
                      <a:srgbClr val="1E2F52"/>
                    </a:solidFill>
                  </a:tcPr>
                </a:tc>
                <a:tc>
                  <a:txBody>
                    <a:bodyPr wrap="square"/>
                    <a:lstStyle/>
                    <a:p>
                      <a:pPr algn="l"/>
                      <a:r>
                        <a:rPr sz="1300" b="0">
                          <a:solidFill>
                            <a:srgbClr val="F4F1EA"/>
                          </a:solidFill>
                          <a:latin typeface="Arial"/>
                        </a:rPr>
                        <a:t>Owner decides</a:t>
                      </a:r>
                    </a:p>
                  </a:txBody>
                  <a:tcPr marL="101600" marR="101600" marT="50800" marB="50800" anchor="ctr">
                    <a:solidFill>
                      <a:srgbClr val="1E2F52"/>
                    </a:solidFill>
                  </a:tcPr>
                </a:tc>
              </a:tr>
              <a:tr h="469900">
                <a:tc>
                  <a:txBody>
                    <a:bodyPr wrap="square"/>
                    <a:lstStyle/>
                    <a:p>
                      <a:pPr algn="l"/>
                      <a:r>
                        <a:rPr sz="1300" b="1">
                          <a:solidFill>
                            <a:srgbClr val="F4F1EA"/>
                          </a:solidFill>
                          <a:latin typeface="Arial"/>
                        </a:rPr>
                        <a:t>Draft reply</a:t>
                      </a:r>
                    </a:p>
                  </a:txBody>
                  <a:tcPr marL="101600" marR="101600" marT="50800" marB="50800" anchor="ctr">
                    <a:solidFill>
                      <a:srgbClr val="14213D"/>
                    </a:solidFill>
                  </a:tcPr>
                </a:tc>
                <a:tc>
                  <a:txBody>
                    <a:bodyPr wrap="square"/>
                    <a:lstStyle/>
                    <a:p>
                      <a:pPr algn="l"/>
                      <a:r>
                        <a:rPr sz="1300" b="0">
                          <a:solidFill>
                            <a:srgbClr val="F4F1EA"/>
                          </a:solidFill>
                          <a:latin typeface="Arial"/>
                        </a:rPr>
                        <a:t>Follow-up email from the deal's records; unquoted facts flagged</a:t>
                      </a:r>
                    </a:p>
                  </a:txBody>
                  <a:tcPr marL="101600" marR="101600" marT="50800" marB="50800" anchor="ctr">
                    <a:solidFill>
                      <a:srgbClr val="14213D"/>
                    </a:solidFill>
                  </a:tcPr>
                </a:tc>
                <a:tc>
                  <a:txBody>
                    <a:bodyPr wrap="square"/>
                    <a:lstStyle/>
                    <a:p>
                      <a:pPr algn="l"/>
                      <a:r>
                        <a:rPr sz="1300" b="0">
                          <a:solidFill>
                            <a:srgbClr val="F4F1EA"/>
                          </a:solidFill>
                          <a:latin typeface="Arial"/>
                        </a:rPr>
                        <a:t>Owner edits and sends</a:t>
                      </a:r>
                    </a:p>
                  </a:txBody>
                  <a:tcPr marL="101600" marR="101600" marT="50800" marB="50800" anchor="ctr">
                    <a:solidFill>
                      <a:srgbClr val="14213D"/>
                    </a:solidFill>
                  </a:tcPr>
                </a:tc>
              </a:tr>
              <a:tr h="469900">
                <a:tc>
                  <a:txBody>
                    <a:bodyPr wrap="square"/>
                    <a:lstStyle/>
                    <a:p>
                      <a:pPr algn="l"/>
                      <a:r>
                        <a:rPr sz="1300" b="1">
                          <a:solidFill>
                            <a:srgbClr val="F4F1EA"/>
                          </a:solidFill>
                          <a:latin typeface="Arial"/>
                        </a:rPr>
                        <a:t>Ask the pipeline</a:t>
                      </a:r>
                    </a:p>
                  </a:txBody>
                  <a:tcPr marL="101600" marR="101600" marT="50800" marB="50800" anchor="ctr">
                    <a:solidFill>
                      <a:srgbClr val="1E2F52"/>
                    </a:solidFill>
                  </a:tcPr>
                </a:tc>
                <a:tc>
                  <a:txBody>
                    <a:bodyPr wrap="square"/>
                    <a:lstStyle/>
                    <a:p>
                      <a:pPr algn="l"/>
                      <a:r>
                        <a:rPr sz="1300" b="0">
                          <a:solidFill>
                            <a:srgbClr val="F4F1EA"/>
                          </a:solidFill>
                          <a:latin typeface="Arial"/>
                        </a:rPr>
                        <a:t>Plain-English answers with linked deals and quotes (RAG over the CRM)</a:t>
                      </a:r>
                    </a:p>
                  </a:txBody>
                  <a:tcPr marL="101600" marR="101600" marT="50800" marB="50800" anchor="ctr">
                    <a:solidFill>
                      <a:srgbClr val="1E2F52"/>
                    </a:solidFill>
                  </a:tcPr>
                </a:tc>
                <a:tc>
                  <a:txBody>
                    <a:bodyPr wrap="square"/>
                    <a:lstStyle/>
                    <a:p>
                      <a:pPr algn="l"/>
                      <a:r>
                        <a:rPr sz="1300" b="0">
                          <a:solidFill>
                            <a:srgbClr val="F4F1EA"/>
                          </a:solidFill>
                          <a:latin typeface="Arial"/>
                        </a:rPr>
                        <a:t>Read-only</a:t>
                      </a:r>
                    </a:p>
                  </a:txBody>
                  <a:tcPr marL="101600" marR="101600" marT="50800" marB="50800" anchor="ctr">
                    <a:solidFill>
                      <a:srgbClr val="1E2F52"/>
                    </a:solidFill>
                  </a:tcPr>
                </a:tc>
              </a:tr>
            </a:tbl>
          </a:graphicData>
        </a:graphic>
      </p:graphicFrame>
      <p:sp>
        <p:nvSpPr>
          <p:cNvPr id="5" name="TextBox 4"/>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B8C0CF"/>
                </a:solidFill>
                <a:latin typeface="Arial"/>
              </a:rPr>
              <a:t>If the AI is unavailable, a rules-only mode keeps capture running and marks every draft for review</a:t>
            </a:r>
          </a:p>
        </p:txBody>
      </p:sp>
      <p:sp>
        <p:nvSpPr>
          <p:cNvPr id="6" name="TextBox 5"/>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B8C0CF"/>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E4572E"/>
                </a:solidFill>
                <a:latin typeface="Arial"/>
              </a:rPr>
              <a:t>07 · What it catches</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F4F1EA"/>
                </a:solidFill>
                <a:latin typeface="Arial Narrow"/>
              </a:rPr>
              <a:t>Commitments a CRM never holds today</a:t>
            </a:r>
          </a:p>
        </p:txBody>
      </p:sp>
      <p:sp>
        <p:nvSpPr>
          <p:cNvPr id="4" name="Rectangle 3"/>
          <p:cNvSpPr/>
          <p:nvPr/>
        </p:nvSpPr>
        <p:spPr>
          <a:xfrm>
            <a:off x="812800" y="2413000"/>
            <a:ext cx="3384550" cy="24765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800" y="2413000"/>
            <a:ext cx="338455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 y="2667000"/>
            <a:ext cx="2876550" cy="228600"/>
          </a:xfrm>
          <a:prstGeom prst="rect">
            <a:avLst/>
          </a:prstGeom>
          <a:noFill/>
        </p:spPr>
        <p:txBody>
          <a:bodyPr wrap="square" lIns="0" rIns="0" tIns="0" bIns="0" anchor="t">
            <a:spAutoFit/>
          </a:bodyPr>
          <a:lstStyle/>
          <a:p>
            <a:pPr algn="l">
              <a:lnSpc>
                <a:spcPct val="120000"/>
              </a:lnSpc>
            </a:pPr>
            <a:r>
              <a:rPr sz="1200" b="1" cap="all" spc="150">
                <a:solidFill>
                  <a:srgbClr val="E4572E"/>
                </a:solidFill>
                <a:latin typeface="Arial"/>
              </a:rPr>
              <a:t>A lost deal</a:t>
            </a:r>
          </a:p>
        </p:txBody>
      </p:sp>
      <p:sp>
        <p:nvSpPr>
          <p:cNvPr id="7" name="TextBox 6"/>
          <p:cNvSpPr txBox="1"/>
          <p:nvPr/>
        </p:nvSpPr>
        <p:spPr>
          <a:xfrm>
            <a:off x="1066800" y="2984500"/>
            <a:ext cx="2876550" cy="889000"/>
          </a:xfrm>
          <a:prstGeom prst="rect">
            <a:avLst/>
          </a:prstGeom>
          <a:noFill/>
        </p:spPr>
        <p:txBody>
          <a:bodyPr wrap="square" lIns="0" rIns="0" tIns="0" bIns="0" anchor="t">
            <a:spAutoFit/>
          </a:bodyPr>
          <a:lstStyle/>
          <a:p>
            <a:pPr algn="l">
              <a:lnSpc>
                <a:spcPct val="130000"/>
              </a:lnSpc>
            </a:pPr>
            <a:r>
              <a:rPr sz="1600" b="0">
                <a:solidFill>
                  <a:srgbClr val="F4F1EA"/>
                </a:solidFill>
                <a:latin typeface="Arial"/>
              </a:rPr>
              <a:t>“Not now. Check back with us next quarter.”</a:t>
            </a:r>
          </a:p>
        </p:txBody>
      </p:sp>
      <p:sp>
        <p:nvSpPr>
          <p:cNvPr id="8" name="TextBox 7"/>
          <p:cNvSpPr txBox="1"/>
          <p:nvPr/>
        </p:nvSpPr>
        <p:spPr>
          <a:xfrm>
            <a:off x="1066800" y="4000500"/>
            <a:ext cx="2876550" cy="762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Becomes a revisit reminder, instead of a closed file.</a:t>
            </a:r>
          </a:p>
        </p:txBody>
      </p:sp>
      <p:sp>
        <p:nvSpPr>
          <p:cNvPr id="9" name="Rectangle 8"/>
          <p:cNvSpPr/>
          <p:nvPr/>
        </p:nvSpPr>
        <p:spPr>
          <a:xfrm>
            <a:off x="4400550" y="2413000"/>
            <a:ext cx="3384550" cy="24765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0550" y="2413000"/>
            <a:ext cx="338455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550" y="2667000"/>
            <a:ext cx="2876550" cy="228600"/>
          </a:xfrm>
          <a:prstGeom prst="rect">
            <a:avLst/>
          </a:prstGeom>
          <a:noFill/>
        </p:spPr>
        <p:txBody>
          <a:bodyPr wrap="square" lIns="0" rIns="0" tIns="0" bIns="0" anchor="t">
            <a:spAutoFit/>
          </a:bodyPr>
          <a:lstStyle/>
          <a:p>
            <a:pPr algn="l">
              <a:lnSpc>
                <a:spcPct val="120000"/>
              </a:lnSpc>
            </a:pPr>
            <a:r>
              <a:rPr sz="1200" b="1" cap="all" spc="150">
                <a:solidFill>
                  <a:srgbClr val="E4572E"/>
                </a:solidFill>
                <a:latin typeface="Arial"/>
              </a:rPr>
              <a:t>An open deal</a:t>
            </a:r>
          </a:p>
        </p:txBody>
      </p:sp>
      <p:sp>
        <p:nvSpPr>
          <p:cNvPr id="12" name="TextBox 11"/>
          <p:cNvSpPr txBox="1"/>
          <p:nvPr/>
        </p:nvSpPr>
        <p:spPr>
          <a:xfrm>
            <a:off x="4654550" y="2984500"/>
            <a:ext cx="2876550" cy="889000"/>
          </a:xfrm>
          <a:prstGeom prst="rect">
            <a:avLst/>
          </a:prstGeom>
          <a:noFill/>
        </p:spPr>
        <p:txBody>
          <a:bodyPr wrap="square" lIns="0" rIns="0" tIns="0" bIns="0" anchor="t">
            <a:spAutoFit/>
          </a:bodyPr>
          <a:lstStyle/>
          <a:p>
            <a:pPr algn="l">
              <a:lnSpc>
                <a:spcPct val="130000"/>
              </a:lnSpc>
            </a:pPr>
            <a:r>
              <a:rPr sz="1600" b="0">
                <a:solidFill>
                  <a:srgbClr val="F4F1EA"/>
                </a:solidFill>
                <a:latin typeface="Arial"/>
              </a:rPr>
              <a:t>“The decision moved to our next board meeting.”</a:t>
            </a:r>
          </a:p>
        </p:txBody>
      </p:sp>
      <p:sp>
        <p:nvSpPr>
          <p:cNvPr id="13" name="TextBox 12"/>
          <p:cNvSpPr txBox="1"/>
          <p:nvPr/>
        </p:nvSpPr>
        <p:spPr>
          <a:xfrm>
            <a:off x="4654550" y="4000500"/>
            <a:ext cx="2876550" cy="762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Becomes a dated reminder for the decision.</a:t>
            </a:r>
          </a:p>
        </p:txBody>
      </p:sp>
      <p:sp>
        <p:nvSpPr>
          <p:cNvPr id="14" name="Rectangle 13"/>
          <p:cNvSpPr/>
          <p:nvPr/>
        </p:nvSpPr>
        <p:spPr>
          <a:xfrm>
            <a:off x="7988300" y="2413000"/>
            <a:ext cx="3384550" cy="24765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88300" y="2413000"/>
            <a:ext cx="3384550" cy="381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2300" y="2667000"/>
            <a:ext cx="2876550" cy="228600"/>
          </a:xfrm>
          <a:prstGeom prst="rect">
            <a:avLst/>
          </a:prstGeom>
          <a:noFill/>
        </p:spPr>
        <p:txBody>
          <a:bodyPr wrap="square" lIns="0" rIns="0" tIns="0" bIns="0" anchor="t">
            <a:spAutoFit/>
          </a:bodyPr>
          <a:lstStyle/>
          <a:p>
            <a:pPr algn="l">
              <a:lnSpc>
                <a:spcPct val="120000"/>
              </a:lnSpc>
            </a:pPr>
            <a:r>
              <a:rPr sz="1200" b="1" cap="all" spc="150">
                <a:solidFill>
                  <a:srgbClr val="E4572E"/>
                </a:solidFill>
                <a:latin typeface="Arial"/>
              </a:rPr>
              <a:t>An internal review</a:t>
            </a:r>
          </a:p>
        </p:txBody>
      </p:sp>
      <p:sp>
        <p:nvSpPr>
          <p:cNvPr id="17" name="TextBox 16"/>
          <p:cNvSpPr txBox="1"/>
          <p:nvPr/>
        </p:nvSpPr>
        <p:spPr>
          <a:xfrm>
            <a:off x="8242300" y="2984500"/>
            <a:ext cx="2876550" cy="889000"/>
          </a:xfrm>
          <a:prstGeom prst="rect">
            <a:avLst/>
          </a:prstGeom>
          <a:noFill/>
        </p:spPr>
        <p:txBody>
          <a:bodyPr wrap="square" lIns="0" rIns="0" tIns="0" bIns="0" anchor="t">
            <a:spAutoFit/>
          </a:bodyPr>
          <a:lstStyle/>
          <a:p>
            <a:pPr algn="l">
              <a:lnSpc>
                <a:spcPct val="130000"/>
              </a:lnSpc>
            </a:pPr>
            <a:r>
              <a:rPr sz="1600" b="0">
                <a:solidFill>
                  <a:srgbClr val="F4F1EA"/>
                </a:solidFill>
                <a:latin typeface="Arial"/>
              </a:rPr>
              <a:t>One meeting note covers several client deals.</a:t>
            </a:r>
          </a:p>
        </p:txBody>
      </p:sp>
      <p:sp>
        <p:nvSpPr>
          <p:cNvPr id="18" name="TextBox 17"/>
          <p:cNvSpPr txBox="1"/>
          <p:nvPr/>
        </p:nvSpPr>
        <p:spPr>
          <a:xfrm>
            <a:off x="8242300" y="4000500"/>
            <a:ext cx="2876550" cy="7620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Becomes one update per deal, each matched to its CRM record.</a:t>
            </a:r>
          </a:p>
        </p:txBody>
      </p:sp>
      <p:sp>
        <p:nvSpPr>
          <p:cNvPr id="19" name="Rectangle 18"/>
          <p:cNvSpPr/>
          <p:nvPr/>
        </p:nvSpPr>
        <p:spPr>
          <a:xfrm>
            <a:off x="812800" y="5207000"/>
            <a:ext cx="10566400" cy="12700"/>
          </a:xfrm>
          <a:prstGeom prst="rect">
            <a:avLst/>
          </a:prstGeom>
          <a:solidFill>
            <a:srgbClr val="3A4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800" y="5397500"/>
            <a:ext cx="3429000" cy="317500"/>
          </a:xfrm>
          <a:prstGeom prst="rect">
            <a:avLst/>
          </a:prstGeom>
          <a:noFill/>
        </p:spPr>
        <p:txBody>
          <a:bodyPr wrap="square" lIns="0" rIns="0" tIns="0" bIns="0" anchor="t">
            <a:spAutoFit/>
          </a:bodyPr>
          <a:lstStyle/>
          <a:p>
            <a:pPr algn="l">
              <a:lnSpc>
                <a:spcPct val="120000"/>
              </a:lnSpc>
            </a:pPr>
            <a:r>
              <a:rPr sz="1400" b="1">
                <a:solidFill>
                  <a:srgbClr val="F4F1EA"/>
                </a:solidFill>
                <a:latin typeface="Arial"/>
              </a:rPr>
              <a:t>Every value</a:t>
            </a:r>
            <a:r>
              <a:rPr sz="1400" b="0">
                <a:solidFill>
                  <a:srgbClr val="B8C0CF"/>
                </a:solidFill>
                <a:latin typeface="Arial"/>
              </a:rPr>
              <a:t> carries its source quote</a:t>
            </a:r>
          </a:p>
        </p:txBody>
      </p:sp>
      <p:sp>
        <p:nvSpPr>
          <p:cNvPr id="21" name="TextBox 20"/>
          <p:cNvSpPr txBox="1"/>
          <p:nvPr/>
        </p:nvSpPr>
        <p:spPr>
          <a:xfrm>
            <a:off x="4368800" y="5397500"/>
            <a:ext cx="3429000" cy="317500"/>
          </a:xfrm>
          <a:prstGeom prst="rect">
            <a:avLst/>
          </a:prstGeom>
          <a:noFill/>
        </p:spPr>
        <p:txBody>
          <a:bodyPr wrap="square" lIns="0" rIns="0" tIns="0" bIns="0" anchor="t">
            <a:spAutoFit/>
          </a:bodyPr>
          <a:lstStyle/>
          <a:p>
            <a:pPr algn="l">
              <a:lnSpc>
                <a:spcPct val="120000"/>
              </a:lnSpc>
            </a:pPr>
            <a:r>
              <a:rPr sz="1400" b="1">
                <a:solidFill>
                  <a:srgbClr val="F4F1EA"/>
                </a:solidFill>
                <a:latin typeface="Arial"/>
              </a:rPr>
              <a:t>32</a:t>
            </a:r>
            <a:r>
              <a:rPr sz="1400" b="0">
                <a:solidFill>
                  <a:srgbClr val="B8C0CF"/>
                </a:solidFill>
                <a:latin typeface="Arial"/>
              </a:rPr>
              <a:t> automated tests pass</a:t>
            </a:r>
          </a:p>
        </p:txBody>
      </p:sp>
      <p:sp>
        <p:nvSpPr>
          <p:cNvPr id="22" name="TextBox 21"/>
          <p:cNvSpPr txBox="1"/>
          <p:nvPr/>
        </p:nvSpPr>
        <p:spPr>
          <a:xfrm>
            <a:off x="7924800" y="5397500"/>
            <a:ext cx="3429000" cy="317500"/>
          </a:xfrm>
          <a:prstGeom prst="rect">
            <a:avLst/>
          </a:prstGeom>
          <a:noFill/>
        </p:spPr>
        <p:txBody>
          <a:bodyPr wrap="square" lIns="0" rIns="0" tIns="0" bIns="0" anchor="t">
            <a:spAutoFit/>
          </a:bodyPr>
          <a:lstStyle/>
          <a:p>
            <a:pPr algn="l">
              <a:lnSpc>
                <a:spcPct val="120000"/>
              </a:lnSpc>
            </a:pPr>
            <a:r>
              <a:rPr sz="1400" b="1">
                <a:solidFill>
                  <a:srgbClr val="F4F1EA"/>
                </a:solidFill>
                <a:latin typeface="Arial"/>
              </a:rPr>
              <a:t>Paid AI accounts</a:t>
            </a:r>
            <a:r>
              <a:rPr sz="1400" b="0">
                <a:solidFill>
                  <a:srgbClr val="B8C0CF"/>
                </a:solidFill>
                <a:latin typeface="Arial"/>
              </a:rPr>
              <a:t> needed at full volume</a:t>
            </a:r>
          </a:p>
        </p:txBody>
      </p:sp>
      <p:sp>
        <p:nvSpPr>
          <p:cNvPr id="23" name="TextBox 22"/>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B8C0CF"/>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08 · Trust and safety</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Six guardrails protect the CRM and our clients</a:t>
            </a:r>
          </a:p>
        </p:txBody>
      </p:sp>
      <p:sp>
        <p:nvSpPr>
          <p:cNvPr id="4" name="Rectangle 3"/>
          <p:cNvSpPr/>
          <p:nvPr/>
        </p:nvSpPr>
        <p:spPr>
          <a:xfrm>
            <a:off x="812800" y="2413000"/>
            <a:ext cx="3420533" cy="825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65200" y="2603500"/>
            <a:ext cx="127000" cy="127000"/>
          </a:xfrm>
          <a:prstGeom prst="ellipse">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19200" y="2552700"/>
            <a:ext cx="2861733" cy="635000"/>
          </a:xfrm>
          <a:prstGeom prst="rect">
            <a:avLst/>
          </a:prstGeom>
          <a:noFill/>
        </p:spPr>
        <p:txBody>
          <a:bodyPr wrap="square" lIns="0" rIns="0" tIns="0" bIns="0" anchor="t">
            <a:spAutoFit/>
          </a:bodyPr>
          <a:lstStyle/>
          <a:p>
            <a:pPr algn="l">
              <a:lnSpc>
                <a:spcPct val="130000"/>
              </a:lnSpc>
            </a:pPr>
            <a:r>
              <a:rPr sz="1300" b="1">
                <a:solidFill>
                  <a:srgbClr val="14213D"/>
                </a:solidFill>
                <a:latin typeface="Arial"/>
              </a:rPr>
              <a:t>Owner confirms</a:t>
            </a:r>
            <a:r>
              <a:rPr sz="1300" b="0">
                <a:solidFill>
                  <a:srgbClr val="14213D"/>
                </a:solidFill>
                <a:latin typeface="Arial"/>
              </a:rPr>
              <a:t> every record before it is saved</a:t>
            </a:r>
          </a:p>
        </p:txBody>
      </p:sp>
      <p:sp>
        <p:nvSpPr>
          <p:cNvPr id="7" name="Rectangle 6"/>
          <p:cNvSpPr/>
          <p:nvPr/>
        </p:nvSpPr>
        <p:spPr>
          <a:xfrm>
            <a:off x="4385733" y="2413000"/>
            <a:ext cx="3420533" cy="825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538133" y="2603500"/>
            <a:ext cx="127000" cy="127000"/>
          </a:xfrm>
          <a:prstGeom prst="ellipse">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92133" y="2552700"/>
            <a:ext cx="2861733" cy="635000"/>
          </a:xfrm>
          <a:prstGeom prst="rect">
            <a:avLst/>
          </a:prstGeom>
          <a:noFill/>
        </p:spPr>
        <p:txBody>
          <a:bodyPr wrap="square" lIns="0" rIns="0" tIns="0" bIns="0" anchor="t">
            <a:spAutoFit/>
          </a:bodyPr>
          <a:lstStyle/>
          <a:p>
            <a:pPr algn="l">
              <a:lnSpc>
                <a:spcPct val="130000"/>
              </a:lnSpc>
            </a:pPr>
            <a:r>
              <a:rPr sz="1300" b="1">
                <a:solidFill>
                  <a:srgbClr val="14213D"/>
                </a:solidFill>
                <a:latin typeface="Arial"/>
              </a:rPr>
              <a:t>Never contacts clients</a:t>
            </a:r>
            <a:r>
              <a:rPr sz="1300" b="0">
                <a:solidFill>
                  <a:srgbClr val="14213D"/>
                </a:solidFill>
                <a:latin typeface="Arial"/>
              </a:rPr>
              <a:t>: it drafts, the owner sends</a:t>
            </a:r>
          </a:p>
        </p:txBody>
      </p:sp>
      <p:sp>
        <p:nvSpPr>
          <p:cNvPr id="10" name="Rectangle 9"/>
          <p:cNvSpPr/>
          <p:nvPr/>
        </p:nvSpPr>
        <p:spPr>
          <a:xfrm>
            <a:off x="7958666" y="2413000"/>
            <a:ext cx="3420533" cy="825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111066" y="2603500"/>
            <a:ext cx="127000" cy="127000"/>
          </a:xfrm>
          <a:prstGeom prst="ellipse">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5066" y="2552700"/>
            <a:ext cx="2861733" cy="635000"/>
          </a:xfrm>
          <a:prstGeom prst="rect">
            <a:avLst/>
          </a:prstGeom>
          <a:noFill/>
        </p:spPr>
        <p:txBody>
          <a:bodyPr wrap="square" lIns="0" rIns="0" tIns="0" bIns="0" anchor="t">
            <a:spAutoFit/>
          </a:bodyPr>
          <a:lstStyle/>
          <a:p>
            <a:pPr algn="l">
              <a:lnSpc>
                <a:spcPct val="130000"/>
              </a:lnSpc>
            </a:pPr>
            <a:r>
              <a:rPr sz="1300" b="1">
                <a:solidFill>
                  <a:srgbClr val="14213D"/>
                </a:solidFill>
                <a:latin typeface="Arial"/>
              </a:rPr>
              <a:t>Every fact quoted</a:t>
            </a:r>
            <a:r>
              <a:rPr sz="1300" b="0">
                <a:solidFill>
                  <a:srgbClr val="14213D"/>
                </a:solidFill>
                <a:latin typeface="Arial"/>
              </a:rPr>
              <a:t>; missing values left empty, never guessed</a:t>
            </a:r>
          </a:p>
        </p:txBody>
      </p:sp>
      <p:sp>
        <p:nvSpPr>
          <p:cNvPr id="13" name="Rectangle 12"/>
          <p:cNvSpPr/>
          <p:nvPr/>
        </p:nvSpPr>
        <p:spPr>
          <a:xfrm>
            <a:off x="812800" y="3365500"/>
            <a:ext cx="3420533" cy="825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5200" y="3556000"/>
            <a:ext cx="127000" cy="127000"/>
          </a:xfrm>
          <a:prstGeom prst="ellipse">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9200" y="3505200"/>
            <a:ext cx="2861733" cy="635000"/>
          </a:xfrm>
          <a:prstGeom prst="rect">
            <a:avLst/>
          </a:prstGeom>
          <a:noFill/>
        </p:spPr>
        <p:txBody>
          <a:bodyPr wrap="square" lIns="0" rIns="0" tIns="0" bIns="0" anchor="t">
            <a:spAutoFit/>
          </a:bodyPr>
          <a:lstStyle/>
          <a:p>
            <a:pPr algn="l">
              <a:lnSpc>
                <a:spcPct val="130000"/>
              </a:lnSpc>
            </a:pPr>
            <a:r>
              <a:rPr sz="1300" b="1">
                <a:solidFill>
                  <a:srgbClr val="14213D"/>
                </a:solidFill>
                <a:latin typeface="Arial"/>
              </a:rPr>
              <a:t>Sensitive data masked</a:t>
            </a:r>
            <a:r>
              <a:rPr sz="1300" b="0">
                <a:solidFill>
                  <a:srgbClr val="14213D"/>
                </a:solidFill>
                <a:latin typeface="Arial"/>
              </a:rPr>
              <a:t>; personal and excluded items never stored</a:t>
            </a:r>
          </a:p>
        </p:txBody>
      </p:sp>
      <p:sp>
        <p:nvSpPr>
          <p:cNvPr id="16" name="Rectangle 15"/>
          <p:cNvSpPr/>
          <p:nvPr/>
        </p:nvSpPr>
        <p:spPr>
          <a:xfrm>
            <a:off x="4385733" y="3365500"/>
            <a:ext cx="3420533" cy="825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538133" y="3556000"/>
            <a:ext cx="127000" cy="127000"/>
          </a:xfrm>
          <a:prstGeom prst="ellipse">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92133" y="3505200"/>
            <a:ext cx="2861733" cy="635000"/>
          </a:xfrm>
          <a:prstGeom prst="rect">
            <a:avLst/>
          </a:prstGeom>
          <a:noFill/>
        </p:spPr>
        <p:txBody>
          <a:bodyPr wrap="square" lIns="0" rIns="0" tIns="0" bIns="0" anchor="t">
            <a:spAutoFit/>
          </a:bodyPr>
          <a:lstStyle/>
          <a:p>
            <a:pPr algn="l">
              <a:lnSpc>
                <a:spcPct val="130000"/>
              </a:lnSpc>
            </a:pPr>
            <a:r>
              <a:rPr sz="1300" b="1">
                <a:solidFill>
                  <a:srgbClr val="14213D"/>
                </a:solidFill>
                <a:latin typeface="Arial"/>
              </a:rPr>
              <a:t>No cross-client leaks</a:t>
            </a:r>
            <a:r>
              <a:rPr sz="1300" b="0">
                <a:solidFill>
                  <a:srgbClr val="14213D"/>
                </a:solidFill>
                <a:latin typeface="Arial"/>
              </a:rPr>
              <a:t>: ideas use that client's own history only</a:t>
            </a:r>
          </a:p>
        </p:txBody>
      </p:sp>
      <p:sp>
        <p:nvSpPr>
          <p:cNvPr id="19" name="Rectangle 18"/>
          <p:cNvSpPr/>
          <p:nvPr/>
        </p:nvSpPr>
        <p:spPr>
          <a:xfrm>
            <a:off x="7958666" y="3365500"/>
            <a:ext cx="3420533" cy="825500"/>
          </a:xfrm>
          <a:prstGeom prst="rect">
            <a:avLst/>
          </a:prstGeom>
          <a:solidFill>
            <a:srgbClr val="FB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11066" y="3556000"/>
            <a:ext cx="127000" cy="127000"/>
          </a:xfrm>
          <a:prstGeom prst="ellipse">
            <a:avLst/>
          </a:prstGeom>
          <a:solidFill>
            <a:srgbClr val="2F6B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5066" y="3505200"/>
            <a:ext cx="2861733" cy="635000"/>
          </a:xfrm>
          <a:prstGeom prst="rect">
            <a:avLst/>
          </a:prstGeom>
          <a:noFill/>
        </p:spPr>
        <p:txBody>
          <a:bodyPr wrap="square" lIns="0" rIns="0" tIns="0" bIns="0" anchor="t">
            <a:spAutoFit/>
          </a:bodyPr>
          <a:lstStyle/>
          <a:p>
            <a:pPr algn="l">
              <a:lnSpc>
                <a:spcPct val="130000"/>
              </a:lnSpc>
            </a:pPr>
            <a:r>
              <a:rPr sz="1300" b="1">
                <a:solidFill>
                  <a:srgbClr val="14213D"/>
                </a:solidFill>
                <a:latin typeface="Arial"/>
              </a:rPr>
              <a:t>Full action log</a:t>
            </a:r>
            <a:r>
              <a:rPr sz="1300" b="0">
                <a:solidFill>
                  <a:srgbClr val="14213D"/>
                </a:solidFill>
                <a:latin typeface="Arial"/>
              </a:rPr>
              <a:t> and a one-click pause switch</a:t>
            </a:r>
          </a:p>
        </p:txBody>
      </p:sp>
      <p:sp>
        <p:nvSpPr>
          <p:cNvPr id="22" name="Rectangle 21"/>
          <p:cNvSpPr/>
          <p:nvPr/>
        </p:nvSpPr>
        <p:spPr>
          <a:xfrm>
            <a:off x="812800" y="4445000"/>
            <a:ext cx="10566400" cy="10795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1400" y="4610100"/>
            <a:ext cx="10160000" cy="254000"/>
          </a:xfrm>
          <a:prstGeom prst="rect">
            <a:avLst/>
          </a:prstGeom>
          <a:noFill/>
        </p:spPr>
        <p:txBody>
          <a:bodyPr wrap="square" lIns="0" rIns="0" tIns="0" bIns="0" anchor="t">
            <a:spAutoFit/>
          </a:bodyPr>
          <a:lstStyle/>
          <a:p>
            <a:pPr algn="l">
              <a:lnSpc>
                <a:spcPct val="120000"/>
              </a:lnSpc>
            </a:pPr>
            <a:r>
              <a:rPr sz="1400" b="1" cap="all" spc="100">
                <a:solidFill>
                  <a:srgbClr val="E4572E"/>
                </a:solidFill>
                <a:latin typeface="Arial Narrow"/>
              </a:rPr>
              <a:t>Kill switch: back to the manual process if</a:t>
            </a:r>
          </a:p>
        </p:txBody>
      </p:sp>
      <p:sp>
        <p:nvSpPr>
          <p:cNvPr id="24" name="TextBox 23"/>
          <p:cNvSpPr txBox="1"/>
          <p:nvPr/>
        </p:nvSpPr>
        <p:spPr>
          <a:xfrm>
            <a:off x="1041400" y="4927600"/>
            <a:ext cx="10160000" cy="571500"/>
          </a:xfrm>
          <a:prstGeom prst="rect">
            <a:avLst/>
          </a:prstGeom>
          <a:noFill/>
        </p:spPr>
        <p:txBody>
          <a:bodyPr wrap="square" lIns="0" rIns="0" tIns="0" bIns="0" anchor="t">
            <a:spAutoFit/>
          </a:bodyPr>
          <a:lstStyle/>
          <a:p>
            <a:pPr algn="l">
              <a:lnSpc>
                <a:spcPct val="130000"/>
              </a:lnSpc>
            </a:pPr>
            <a:r>
              <a:rPr sz="1300" b="0">
                <a:solidFill>
                  <a:srgbClr val="F4F1EA"/>
                </a:solidFill>
                <a:latin typeface="Arial"/>
              </a:rPr>
              <a:t>a record is saved or a client contacted without confirmation · personal data is stored · one client's data appears in another's · confirmation rate stays below 50% for two weeks</a:t>
            </a:r>
          </a:p>
        </p:txBody>
      </p:sp>
      <p:sp>
        <p:nvSpPr>
          <p:cNvPr id="25" name="TextBox 24"/>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09 · Running cost</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The AI costs less than a coffee a week</a:t>
            </a:r>
          </a:p>
        </p:txBody>
      </p:sp>
      <p:sp>
        <p:nvSpPr>
          <p:cNvPr id="4" name="TextBox 3"/>
          <p:cNvSpPr txBox="1"/>
          <p:nvPr/>
        </p:nvSpPr>
        <p:spPr>
          <a:xfrm>
            <a:off x="812800" y="2222500"/>
            <a:ext cx="4064000" cy="1460500"/>
          </a:xfrm>
          <a:prstGeom prst="rect">
            <a:avLst/>
          </a:prstGeom>
          <a:noFill/>
        </p:spPr>
        <p:txBody>
          <a:bodyPr wrap="square" lIns="0" rIns="0" tIns="0" bIns="0" anchor="t">
            <a:spAutoFit/>
          </a:bodyPr>
          <a:lstStyle/>
          <a:p>
            <a:pPr algn="l">
              <a:lnSpc>
                <a:spcPct val="90000"/>
              </a:lnSpc>
            </a:pPr>
            <a:r>
              <a:rPr sz="10000" b="1">
                <a:solidFill>
                  <a:srgbClr val="E4572E"/>
                </a:solidFill>
                <a:latin typeface="Arial Narrow"/>
              </a:rPr>
              <a:t>$4.33</a:t>
            </a:r>
          </a:p>
        </p:txBody>
      </p:sp>
      <p:sp>
        <p:nvSpPr>
          <p:cNvPr id="5" name="TextBox 4"/>
          <p:cNvSpPr txBox="1"/>
          <p:nvPr/>
        </p:nvSpPr>
        <p:spPr>
          <a:xfrm>
            <a:off x="812800" y="3810000"/>
            <a:ext cx="3937000" cy="889000"/>
          </a:xfrm>
          <a:prstGeom prst="rect">
            <a:avLst/>
          </a:prstGeom>
          <a:noFill/>
        </p:spPr>
        <p:txBody>
          <a:bodyPr wrap="square" lIns="0" rIns="0" tIns="0" bIns="0" anchor="t">
            <a:spAutoFit/>
          </a:bodyPr>
          <a:lstStyle/>
          <a:p>
            <a:pPr algn="l">
              <a:lnSpc>
                <a:spcPct val="130000"/>
              </a:lnSpc>
            </a:pPr>
            <a:r>
              <a:rPr sz="1600" b="0">
                <a:solidFill>
                  <a:srgbClr val="14213D"/>
                </a:solidFill>
                <a:latin typeface="Arial"/>
              </a:rPr>
              <a:t>per month as deployed, at </a:t>
            </a:r>
            <a:r>
              <a:rPr sz="1600" b="1">
                <a:solidFill>
                  <a:srgbClr val="14213D"/>
                </a:solidFill>
                <a:latin typeface="Arial"/>
              </a:rPr>
              <a:t>100 conversations a day</a:t>
            </a:r>
            <a:r>
              <a:rPr sz="1600" b="0">
                <a:solidFill>
                  <a:srgbClr val="14213D"/>
                </a:solidFill>
                <a:latin typeface="Arial"/>
              </a:rPr>
              <a:t> plus 20 email drafts and 15 pipeline questions</a:t>
            </a:r>
          </a:p>
        </p:txBody>
      </p:sp>
      <p:sp>
        <p:nvSpPr>
          <p:cNvPr id="6" name="TextBox 5"/>
          <p:cNvSpPr txBox="1"/>
          <p:nvPr/>
        </p:nvSpPr>
        <p:spPr>
          <a:xfrm>
            <a:off x="812800" y="4826000"/>
            <a:ext cx="3937000" cy="7620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Capture and email drafts on Claude Haiku 5.5; pipeline questions (Ask AI) on Groq for about $0.31 of it.</a:t>
            </a:r>
          </a:p>
        </p:txBody>
      </p:sp>
      <p:graphicFrame>
        <p:nvGraphicFramePr>
          <p:cNvPr id="7" name="Table 6"/>
          <p:cNvGraphicFramePr>
            <a:graphicFrameLocks noGrp="1"/>
          </p:cNvGraphicFramePr>
          <p:nvPr/>
        </p:nvGraphicFramePr>
        <p:xfrm>
          <a:off x="5207000" y="2413000"/>
          <a:ext cx="6172199" cy="1968500"/>
        </p:xfrm>
        <a:graphic>
          <a:graphicData uri="http://schemas.openxmlformats.org/drawingml/2006/table">
            <a:tbl>
              <a:tblPr firstRow="1" bandRow="1">
                <a:tableStyleId>{2D5ABB26-0587-4C30-8999-92F81FD0307C}</a:tableStyleId>
              </a:tblPr>
              <a:tblGrid>
                <a:gridCol w="3950208"/>
                <a:gridCol w="2221991"/>
              </a:tblGrid>
              <a:tr h="393700">
                <a:tc>
                  <a:txBody>
                    <a:bodyPr wrap="square"/>
                    <a:lstStyle/>
                    <a:p>
                      <a:pPr algn="l"/>
                      <a:r>
                        <a:rPr sz="1400" b="1">
                          <a:solidFill>
                            <a:srgbClr val="F4F1EA"/>
                          </a:solidFill>
                          <a:latin typeface="Arial"/>
                        </a:rPr>
                        <a:t>Capture model compared</a:t>
                      </a:r>
                    </a:p>
                  </a:txBody>
                  <a:tcPr marL="101600" marR="101600" marT="50800" marB="50800" anchor="ctr">
                    <a:solidFill>
                      <a:srgbClr val="14213D"/>
                    </a:solidFill>
                  </a:tcPr>
                </a:tc>
                <a:tc>
                  <a:txBody>
                    <a:bodyPr wrap="square"/>
                    <a:lstStyle/>
                    <a:p>
                      <a:pPr algn="r"/>
                      <a:r>
                        <a:rPr sz="1400" b="1">
                          <a:solidFill>
                            <a:srgbClr val="F4F1EA"/>
                          </a:solidFill>
                          <a:latin typeface="Arial"/>
                        </a:rPr>
                        <a:t>Per month</a:t>
                      </a:r>
                    </a:p>
                  </a:txBody>
                  <a:tcPr marL="101600" marR="101600" marT="50800" marB="50800" anchor="ctr">
                    <a:solidFill>
                      <a:srgbClr val="14213D"/>
                    </a:solidFill>
                  </a:tcPr>
                </a:tc>
              </a:tr>
              <a:tr h="393700">
                <a:tc>
                  <a:txBody>
                    <a:bodyPr wrap="square"/>
                    <a:lstStyle/>
                    <a:p>
                      <a:pPr algn="l"/>
                      <a:r>
                        <a:rPr sz="1400" b="1">
                          <a:solidFill>
                            <a:srgbClr val="14213D"/>
                          </a:solidFill>
                          <a:latin typeface="Arial"/>
                        </a:rPr>
                        <a:t>Claude Haiku 5.5 (live)</a:t>
                      </a:r>
                    </a:p>
                  </a:txBody>
                  <a:tcPr marL="101600" marR="101600" marT="50800" marB="50800" anchor="ctr">
                    <a:solidFill>
                      <a:srgbClr val="FBFAF6"/>
                    </a:solidFill>
                  </a:tcPr>
                </a:tc>
                <a:tc>
                  <a:txBody>
                    <a:bodyPr wrap="square"/>
                    <a:lstStyle/>
                    <a:p>
                      <a:pPr algn="r"/>
                      <a:r>
                        <a:rPr sz="1400" b="1">
                          <a:solidFill>
                            <a:srgbClr val="14213D"/>
                          </a:solidFill>
                          <a:latin typeface="Arial"/>
                        </a:rPr>
                        <a:t>$4.33</a:t>
                      </a:r>
                    </a:p>
                  </a:txBody>
                  <a:tcPr marL="101600" marR="101600" marT="50800" marB="50800" anchor="ctr">
                    <a:solidFill>
                      <a:srgbClr val="FBFAF6"/>
                    </a:solidFill>
                  </a:tcPr>
                </a:tc>
              </a:tr>
              <a:tr h="393700">
                <a:tc>
                  <a:txBody>
                    <a:bodyPr wrap="square"/>
                    <a:lstStyle/>
                    <a:p>
                      <a:pPr algn="l"/>
                      <a:r>
                        <a:rPr sz="1400" b="0">
                          <a:solidFill>
                            <a:srgbClr val="14213D"/>
                          </a:solidFill>
                          <a:latin typeface="Arial"/>
                        </a:rPr>
                        <a:t>gpt-oss-120b</a:t>
                      </a:r>
                    </a:p>
                  </a:txBody>
                  <a:tcPr marL="101600" marR="101600" marT="50800" marB="50800" anchor="ctr">
                    <a:solidFill>
                      <a:srgbClr val="EFEADF"/>
                    </a:solidFill>
                  </a:tcPr>
                </a:tc>
                <a:tc>
                  <a:txBody>
                    <a:bodyPr wrap="square"/>
                    <a:lstStyle/>
                    <a:p>
                      <a:pPr algn="r"/>
                      <a:r>
                        <a:rPr sz="1400" b="0">
                          <a:solidFill>
                            <a:srgbClr val="14213D"/>
                          </a:solidFill>
                          <a:latin typeface="Arial"/>
                        </a:rPr>
                        <a:t>$4.36</a:t>
                      </a:r>
                    </a:p>
                  </a:txBody>
                  <a:tcPr marL="101600" marR="101600" marT="50800" marB="50800" anchor="ctr">
                    <a:solidFill>
                      <a:srgbClr val="EFEADF"/>
                    </a:solidFill>
                  </a:tcPr>
                </a:tc>
              </a:tr>
              <a:tr h="393700">
                <a:tc>
                  <a:txBody>
                    <a:bodyPr wrap="square"/>
                    <a:lstStyle/>
                    <a:p>
                      <a:pPr algn="l"/>
                      <a:r>
                        <a:rPr sz="1400" b="0">
                          <a:solidFill>
                            <a:srgbClr val="14213D"/>
                          </a:solidFill>
                          <a:latin typeface="Arial"/>
                        </a:rPr>
                        <a:t>gpt-oss-20b</a:t>
                      </a:r>
                    </a:p>
                  </a:txBody>
                  <a:tcPr marL="101600" marR="101600" marT="50800" marB="50800" anchor="ctr">
                    <a:solidFill>
                      <a:srgbClr val="FBFAF6"/>
                    </a:solidFill>
                  </a:tcPr>
                </a:tc>
                <a:tc>
                  <a:txBody>
                    <a:bodyPr wrap="square"/>
                    <a:lstStyle/>
                    <a:p>
                      <a:pPr algn="r"/>
                      <a:r>
                        <a:rPr sz="1400" b="0">
                          <a:solidFill>
                            <a:srgbClr val="14213D"/>
                          </a:solidFill>
                          <a:latin typeface="Arial"/>
                        </a:rPr>
                        <a:t>$2.43</a:t>
                      </a:r>
                    </a:p>
                  </a:txBody>
                  <a:tcPr marL="101600" marR="101600" marT="50800" marB="50800" anchor="ctr">
                    <a:solidFill>
                      <a:srgbClr val="FBFAF6"/>
                    </a:solidFill>
                  </a:tcPr>
                </a:tc>
              </a:tr>
              <a:tr h="393700">
                <a:tc>
                  <a:txBody>
                    <a:bodyPr wrap="square"/>
                    <a:lstStyle/>
                    <a:p>
                      <a:pPr algn="l"/>
                      <a:r>
                        <a:rPr sz="1400" b="0">
                          <a:solidFill>
                            <a:srgbClr val="14213D"/>
                          </a:solidFill>
                          <a:latin typeface="Arial"/>
                        </a:rPr>
                        <a:t>qwen3.8-27b (preview)</a:t>
                      </a:r>
                    </a:p>
                  </a:txBody>
                  <a:tcPr marL="101600" marR="101600" marT="50800" marB="50800" anchor="ctr">
                    <a:solidFill>
                      <a:srgbClr val="EFEADF"/>
                    </a:solidFill>
                  </a:tcPr>
                </a:tc>
                <a:tc>
                  <a:txBody>
                    <a:bodyPr wrap="square"/>
                    <a:lstStyle/>
                    <a:p>
                      <a:pPr algn="r"/>
                      <a:r>
                        <a:rPr sz="1400" b="0">
                          <a:solidFill>
                            <a:srgbClr val="14213D"/>
                          </a:solidFill>
                          <a:latin typeface="Arial"/>
                        </a:rPr>
                        <a:t>$24.01</a:t>
                      </a:r>
                    </a:p>
                  </a:txBody>
                  <a:tcPr marL="101600" marR="101600" marT="50800" marB="50800" anchor="ctr">
                    <a:solidFill>
                      <a:srgbClr val="EFEADF"/>
                    </a:solidFill>
                  </a:tcPr>
                </a:tc>
              </a:tr>
            </a:tbl>
          </a:graphicData>
        </a:graphic>
      </p:graphicFrame>
      <p:sp>
        <p:nvSpPr>
          <p:cNvPr id="8" name="TextBox 7"/>
          <p:cNvSpPr txBox="1"/>
          <p:nvPr/>
        </p:nvSpPr>
        <p:spPr>
          <a:xfrm>
            <a:off x="5207000" y="4572000"/>
            <a:ext cx="6172200" cy="571500"/>
          </a:xfrm>
          <a:prstGeom prst="rect">
            <a:avLst/>
          </a:prstGeom>
          <a:noFill/>
        </p:spPr>
        <p:txBody>
          <a:bodyPr wrap="square" lIns="0" rIns="0" tIns="0" bIns="0" anchor="t">
            <a:spAutoFit/>
          </a:bodyPr>
          <a:lstStyle/>
          <a:p>
            <a:pPr algn="l">
              <a:lnSpc>
                <a:spcPct val="130000"/>
              </a:lnSpc>
            </a:pPr>
            <a:r>
              <a:rPr sz="1300" b="0">
                <a:solidFill>
                  <a:srgbClr val="4A5568"/>
                </a:solidFill>
                <a:latin typeface="Arial"/>
              </a:rPr>
              <a:t>Ask AI cost grows with the CRM: $1.54 a month at 500 deals, or $0.28 with vector search.</a:t>
            </a:r>
          </a:p>
        </p:txBody>
      </p:sp>
      <p:sp>
        <p:nvSpPr>
          <p:cNvPr id="9" name="TextBox 8"/>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Source: LLM Cost Estimate v1.2 (prices checked 11 Oct 2026; hosting excluded; draft and question volumes are assumptions)</a:t>
            </a:r>
          </a:p>
        </p:txBody>
      </p:sp>
      <p:sp>
        <p:nvSpPr>
          <p:cNvPr id="10" name="TextBox 9"/>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E4572E"/>
                </a:solidFill>
                <a:latin typeface="Arial"/>
              </a:rPr>
              <a:t>10 · Cost saving</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F4F1EA"/>
                </a:solidFill>
                <a:latin typeface="Arial Narrow"/>
              </a:rPr>
              <a:t>About $2,900 a month back from CRM busywork</a:t>
            </a:r>
          </a:p>
        </p:txBody>
      </p:sp>
      <p:sp>
        <p:nvSpPr>
          <p:cNvPr id="4" name="Rectangle 3"/>
          <p:cNvSpPr/>
          <p:nvPr/>
        </p:nvSpPr>
        <p:spPr>
          <a:xfrm>
            <a:off x="812800" y="2159000"/>
            <a:ext cx="3403600" cy="17145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1400" y="2298700"/>
            <a:ext cx="2946400" cy="889000"/>
          </a:xfrm>
          <a:prstGeom prst="rect">
            <a:avLst/>
          </a:prstGeom>
          <a:noFill/>
        </p:spPr>
        <p:txBody>
          <a:bodyPr wrap="square" lIns="0" rIns="0" tIns="0" bIns="0" anchor="t">
            <a:spAutoFit/>
          </a:bodyPr>
          <a:lstStyle/>
          <a:p>
            <a:pPr algn="l">
              <a:lnSpc>
                <a:spcPct val="90000"/>
              </a:lnSpc>
            </a:pPr>
            <a:r>
              <a:rPr sz="6000" b="1">
                <a:solidFill>
                  <a:srgbClr val="14213D"/>
                </a:solidFill>
                <a:latin typeface="Arial Narrow"/>
              </a:rPr>
              <a:t>$2,912</a:t>
            </a:r>
          </a:p>
        </p:txBody>
      </p:sp>
      <p:sp>
        <p:nvSpPr>
          <p:cNvPr id="6" name="TextBox 5"/>
          <p:cNvSpPr txBox="1"/>
          <p:nvPr/>
        </p:nvSpPr>
        <p:spPr>
          <a:xfrm>
            <a:off x="1041400" y="3238500"/>
            <a:ext cx="2946400" cy="571500"/>
          </a:xfrm>
          <a:prstGeom prst="rect">
            <a:avLst/>
          </a:prstGeom>
          <a:noFill/>
        </p:spPr>
        <p:txBody>
          <a:bodyPr wrap="square" lIns="0" rIns="0" tIns="0" bIns="0" anchor="t">
            <a:spAutoFit/>
          </a:bodyPr>
          <a:lstStyle/>
          <a:p>
            <a:pPr algn="l">
              <a:lnSpc>
                <a:spcPct val="130000"/>
              </a:lnSpc>
            </a:pPr>
            <a:r>
              <a:rPr sz="1400" b="0">
                <a:solidFill>
                  <a:srgbClr val="14213D"/>
                </a:solidFill>
                <a:latin typeface="Arial"/>
              </a:rPr>
              <a:t>saved per month, about $35,000 a year</a:t>
            </a:r>
          </a:p>
        </p:txBody>
      </p:sp>
      <p:sp>
        <p:nvSpPr>
          <p:cNvPr id="7" name="Rectangle 6"/>
          <p:cNvSpPr/>
          <p:nvPr/>
        </p:nvSpPr>
        <p:spPr>
          <a:xfrm>
            <a:off x="4394200" y="2159000"/>
            <a:ext cx="3403600" cy="17145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2800" y="2298700"/>
            <a:ext cx="2946400" cy="889000"/>
          </a:xfrm>
          <a:prstGeom prst="rect">
            <a:avLst/>
          </a:prstGeom>
          <a:noFill/>
        </p:spPr>
        <p:txBody>
          <a:bodyPr wrap="square" lIns="0" rIns="0" tIns="0" bIns="0" anchor="t">
            <a:spAutoFit/>
          </a:bodyPr>
          <a:lstStyle/>
          <a:p>
            <a:pPr algn="l">
              <a:lnSpc>
                <a:spcPct val="90000"/>
              </a:lnSpc>
            </a:pPr>
            <a:r>
              <a:rPr sz="6000" b="1">
                <a:solidFill>
                  <a:srgbClr val="E4572E"/>
                </a:solidFill>
                <a:latin typeface="Arial Narrow"/>
              </a:rPr>
              <a:t>70%</a:t>
            </a:r>
          </a:p>
        </p:txBody>
      </p:sp>
      <p:sp>
        <p:nvSpPr>
          <p:cNvPr id="9" name="TextBox 8"/>
          <p:cNvSpPr txBox="1"/>
          <p:nvPr/>
        </p:nvSpPr>
        <p:spPr>
          <a:xfrm>
            <a:off x="4622800" y="3238500"/>
            <a:ext cx="2946400" cy="571500"/>
          </a:xfrm>
          <a:prstGeom prst="rect">
            <a:avLst/>
          </a:prstGeom>
          <a:noFill/>
        </p:spPr>
        <p:txBody>
          <a:bodyPr wrap="square" lIns="0" rIns="0" tIns="0" bIns="0" anchor="t">
            <a:spAutoFit/>
          </a:bodyPr>
          <a:lstStyle/>
          <a:p>
            <a:pPr algn="l">
              <a:lnSpc>
                <a:spcPct val="130000"/>
              </a:lnSpc>
            </a:pPr>
            <a:r>
              <a:rPr sz="1400" b="0">
                <a:solidFill>
                  <a:srgbClr val="B8C0CF"/>
                </a:solidFill>
                <a:latin typeface="Arial"/>
              </a:rPr>
              <a:t>lower cost of keeping the CRM up to date</a:t>
            </a:r>
          </a:p>
        </p:txBody>
      </p:sp>
      <p:sp>
        <p:nvSpPr>
          <p:cNvPr id="10" name="Rectangle 9"/>
          <p:cNvSpPr/>
          <p:nvPr/>
        </p:nvSpPr>
        <p:spPr>
          <a:xfrm>
            <a:off x="7975600" y="2159000"/>
            <a:ext cx="3403600" cy="17145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4200" y="2298700"/>
            <a:ext cx="2946400" cy="889000"/>
          </a:xfrm>
          <a:prstGeom prst="rect">
            <a:avLst/>
          </a:prstGeom>
          <a:noFill/>
        </p:spPr>
        <p:txBody>
          <a:bodyPr wrap="square" lIns="0" rIns="0" tIns="0" bIns="0" anchor="t">
            <a:spAutoFit/>
          </a:bodyPr>
          <a:lstStyle/>
          <a:p>
            <a:pPr algn="l">
              <a:lnSpc>
                <a:spcPct val="90000"/>
              </a:lnSpc>
            </a:pPr>
            <a:r>
              <a:rPr sz="6000" b="1">
                <a:solidFill>
                  <a:srgbClr val="E4572E"/>
                </a:solidFill>
                <a:latin typeface="Arial Narrow"/>
              </a:rPr>
              <a:t>128 h</a:t>
            </a:r>
          </a:p>
        </p:txBody>
      </p:sp>
      <p:sp>
        <p:nvSpPr>
          <p:cNvPr id="12" name="TextBox 11"/>
          <p:cNvSpPr txBox="1"/>
          <p:nvPr/>
        </p:nvSpPr>
        <p:spPr>
          <a:xfrm>
            <a:off x="8204200" y="3238500"/>
            <a:ext cx="2946400" cy="571500"/>
          </a:xfrm>
          <a:prstGeom prst="rect">
            <a:avLst/>
          </a:prstGeom>
          <a:noFill/>
        </p:spPr>
        <p:txBody>
          <a:bodyPr wrap="square" lIns="0" rIns="0" tIns="0" bIns="0" anchor="t">
            <a:spAutoFit/>
          </a:bodyPr>
          <a:lstStyle/>
          <a:p>
            <a:pPr algn="l">
              <a:lnSpc>
                <a:spcPct val="130000"/>
              </a:lnSpc>
            </a:pPr>
            <a:r>
              <a:rPr sz="1400" b="0">
                <a:solidFill>
                  <a:srgbClr val="B8C0CF"/>
                </a:solidFill>
                <a:latin typeface="Arial"/>
              </a:rPr>
              <a:t>a month handed back to selling, about 32 hours per seller</a:t>
            </a:r>
          </a:p>
        </p:txBody>
      </p:sp>
      <p:graphicFrame>
        <p:nvGraphicFramePr>
          <p:cNvPr id="13" name="Table 12"/>
          <p:cNvGraphicFramePr>
            <a:graphicFrameLocks noGrp="1"/>
          </p:cNvGraphicFramePr>
          <p:nvPr/>
        </p:nvGraphicFramePr>
        <p:xfrm>
          <a:off x="812800" y="4127500"/>
          <a:ext cx="10566399" cy="1473200"/>
        </p:xfrm>
        <a:graphic>
          <a:graphicData uri="http://schemas.openxmlformats.org/drawingml/2006/table">
            <a:tbl>
              <a:tblPr firstRow="1" bandRow="1">
                <a:tableStyleId>{2D5ABB26-0587-4C30-8999-92F81FD0307C}</a:tableStyleId>
              </a:tblPr>
              <a:tblGrid>
                <a:gridCol w="6128511"/>
                <a:gridCol w="2218944"/>
                <a:gridCol w="2218944"/>
              </a:tblGrid>
              <a:tr h="368300">
                <a:tc>
                  <a:txBody>
                    <a:bodyPr wrap="square"/>
                    <a:lstStyle/>
                    <a:p>
                      <a:pPr algn="l"/>
                      <a:r>
                        <a:rPr sz="1400" b="1">
                          <a:solidFill>
                            <a:srgbClr val="F4F1EA"/>
                          </a:solidFill>
                          <a:latin typeface="Arial"/>
                        </a:rPr>
                        <a:t>Monthly cost of CRM upkeep</a:t>
                      </a:r>
                    </a:p>
                  </a:txBody>
                  <a:tcPr marL="101600" marR="101600" marT="50800" marB="50800" anchor="ctr">
                    <a:solidFill>
                      <a:srgbClr val="0E1830"/>
                    </a:solidFill>
                  </a:tcPr>
                </a:tc>
                <a:tc>
                  <a:txBody>
                    <a:bodyPr wrap="square"/>
                    <a:lstStyle/>
                    <a:p>
                      <a:pPr algn="r"/>
                      <a:r>
                        <a:rPr sz="1400" b="1">
                          <a:solidFill>
                            <a:srgbClr val="F4F1EA"/>
                          </a:solidFill>
                          <a:latin typeface="Arial"/>
                        </a:rPr>
                        <a:t>Today</a:t>
                      </a:r>
                    </a:p>
                  </a:txBody>
                  <a:tcPr marL="101600" marR="101600" marT="50800" marB="50800" anchor="ctr">
                    <a:solidFill>
                      <a:srgbClr val="0E1830"/>
                    </a:solidFill>
                  </a:tcPr>
                </a:tc>
                <a:tc>
                  <a:txBody>
                    <a:bodyPr wrap="square"/>
                    <a:lstStyle/>
                    <a:p>
                      <a:pPr algn="r"/>
                      <a:r>
                        <a:rPr sz="1400" b="1">
                          <a:solidFill>
                            <a:srgbClr val="F4F1EA"/>
                          </a:solidFill>
                          <a:latin typeface="Arial"/>
                        </a:rPr>
                        <a:t>With assistant</a:t>
                      </a:r>
                    </a:p>
                  </a:txBody>
                  <a:tcPr marL="101600" marR="101600" marT="50800" marB="50800" anchor="ctr">
                    <a:solidFill>
                      <a:srgbClr val="0E1830"/>
                    </a:solidFill>
                  </a:tcPr>
                </a:tc>
              </a:tr>
              <a:tr h="368300">
                <a:tc>
                  <a:txBody>
                    <a:bodyPr wrap="square"/>
                    <a:lstStyle/>
                    <a:p>
                      <a:pPr algn="l"/>
                      <a:r>
                        <a:rPr sz="1400" b="0">
                          <a:solidFill>
                            <a:srgbClr val="F4F1EA"/>
                          </a:solidFill>
                          <a:latin typeface="Arial"/>
                        </a:rPr>
                        <a:t>Sellers' time on manual entry (about 5 min per conversation)</a:t>
                      </a:r>
                    </a:p>
                  </a:txBody>
                  <a:tcPr marL="101600" marR="101600" marT="50800" marB="50800" anchor="ctr">
                    <a:solidFill>
                      <a:srgbClr val="1E2F52"/>
                    </a:solidFill>
                  </a:tcPr>
                </a:tc>
                <a:tc>
                  <a:txBody>
                    <a:bodyPr wrap="square"/>
                    <a:lstStyle/>
                    <a:p>
                      <a:pPr algn="r"/>
                      <a:r>
                        <a:rPr sz="1400" b="0">
                          <a:solidFill>
                            <a:srgbClr val="F4F1EA"/>
                          </a:solidFill>
                          <a:latin typeface="Arial"/>
                        </a:rPr>
                        <a:t>$4,167</a:t>
                      </a:r>
                    </a:p>
                  </a:txBody>
                  <a:tcPr marL="101600" marR="101600" marT="50800" marB="50800" anchor="ctr">
                    <a:solidFill>
                      <a:srgbClr val="1E2F52"/>
                    </a:solidFill>
                  </a:tcPr>
                </a:tc>
                <a:tc>
                  <a:txBody>
                    <a:bodyPr wrap="square"/>
                    <a:lstStyle/>
                    <a:p>
                      <a:pPr algn="r"/>
                      <a:r>
                        <a:rPr sz="1400" b="0">
                          <a:solidFill>
                            <a:srgbClr val="F4F1EA"/>
                          </a:solidFill>
                          <a:latin typeface="Arial"/>
                        </a:rPr>
                        <a:t>$1,250</a:t>
                      </a:r>
                    </a:p>
                  </a:txBody>
                  <a:tcPr marL="101600" marR="101600" marT="50800" marB="50800" anchor="ctr">
                    <a:solidFill>
                      <a:srgbClr val="1E2F52"/>
                    </a:solidFill>
                  </a:tcPr>
                </a:tc>
              </a:tr>
              <a:tr h="368300">
                <a:tc>
                  <a:txBody>
                    <a:bodyPr wrap="square"/>
                    <a:lstStyle/>
                    <a:p>
                      <a:pPr algn="l"/>
                      <a:r>
                        <a:rPr sz="1400" b="0">
                          <a:solidFill>
                            <a:srgbClr val="F4F1EA"/>
                          </a:solidFill>
                          <a:latin typeface="Arial"/>
                        </a:rPr>
                        <a:t>AI running cost</a:t>
                      </a:r>
                    </a:p>
                  </a:txBody>
                  <a:tcPr marL="101600" marR="101600" marT="50800" marB="50800" anchor="ctr">
                    <a:solidFill>
                      <a:srgbClr val="24375F"/>
                    </a:solidFill>
                  </a:tcPr>
                </a:tc>
                <a:tc>
                  <a:txBody>
                    <a:bodyPr wrap="square"/>
                    <a:lstStyle/>
                    <a:p>
                      <a:pPr algn="r"/>
                      <a:r>
                        <a:rPr sz="1400" b="0">
                          <a:solidFill>
                            <a:srgbClr val="F4F1EA"/>
                          </a:solidFill>
                          <a:latin typeface="Arial"/>
                        </a:rPr>
                        <a:t>$0</a:t>
                      </a:r>
                    </a:p>
                  </a:txBody>
                  <a:tcPr marL="101600" marR="101600" marT="50800" marB="50800" anchor="ctr">
                    <a:solidFill>
                      <a:srgbClr val="24375F"/>
                    </a:solidFill>
                  </a:tcPr>
                </a:tc>
                <a:tc>
                  <a:txBody>
                    <a:bodyPr wrap="square"/>
                    <a:lstStyle/>
                    <a:p>
                      <a:pPr algn="r"/>
                      <a:r>
                        <a:rPr sz="1400" b="0">
                          <a:solidFill>
                            <a:srgbClr val="F4F1EA"/>
                          </a:solidFill>
                          <a:latin typeface="Arial"/>
                        </a:rPr>
                        <a:t>$4</a:t>
                      </a:r>
                    </a:p>
                  </a:txBody>
                  <a:tcPr marL="101600" marR="101600" marT="50800" marB="50800" anchor="ctr">
                    <a:solidFill>
                      <a:srgbClr val="24375F"/>
                    </a:solidFill>
                  </a:tcPr>
                </a:tc>
              </a:tr>
              <a:tr h="368300">
                <a:tc>
                  <a:txBody>
                    <a:bodyPr wrap="square"/>
                    <a:lstStyle/>
                    <a:p>
                      <a:pPr algn="l"/>
                      <a:r>
                        <a:rPr sz="1400" b="1">
                          <a:solidFill>
                            <a:srgbClr val="F4F1EA"/>
                          </a:solidFill>
                          <a:latin typeface="Arial"/>
                        </a:rPr>
                        <a:t>Total</a:t>
                      </a:r>
                    </a:p>
                  </a:txBody>
                  <a:tcPr marL="101600" marR="101600" marT="50800" marB="50800" anchor="ctr">
                    <a:solidFill>
                      <a:srgbClr val="1E2F52"/>
                    </a:solidFill>
                  </a:tcPr>
                </a:tc>
                <a:tc>
                  <a:txBody>
                    <a:bodyPr wrap="square"/>
                    <a:lstStyle/>
                    <a:p>
                      <a:pPr algn="r"/>
                      <a:r>
                        <a:rPr sz="1400" b="1">
                          <a:solidFill>
                            <a:srgbClr val="F4F1EA"/>
                          </a:solidFill>
                          <a:latin typeface="Arial"/>
                        </a:rPr>
                        <a:t>$4,167</a:t>
                      </a:r>
                    </a:p>
                  </a:txBody>
                  <a:tcPr marL="101600" marR="101600" marT="50800" marB="50800" anchor="ctr">
                    <a:solidFill>
                      <a:srgbClr val="1E2F52"/>
                    </a:solidFill>
                  </a:tcPr>
                </a:tc>
                <a:tc>
                  <a:txBody>
                    <a:bodyPr wrap="square"/>
                    <a:lstStyle/>
                    <a:p>
                      <a:pPr algn="r"/>
                      <a:r>
                        <a:rPr sz="1400" b="1">
                          <a:solidFill>
                            <a:srgbClr val="E4572E"/>
                          </a:solidFill>
                          <a:latin typeface="Arial"/>
                        </a:rPr>
                        <a:t>$1,254</a:t>
                      </a:r>
                    </a:p>
                  </a:txBody>
                  <a:tcPr marL="101600" marR="101600" marT="50800" marB="50800" anchor="ctr">
                    <a:solidFill>
                      <a:srgbClr val="1E2F52"/>
                    </a:solidFill>
                  </a:tcPr>
                </a:tc>
              </a:tr>
            </a:tbl>
          </a:graphicData>
        </a:graphic>
      </p:graphicFrame>
      <p:sp>
        <p:nvSpPr>
          <p:cNvPr id="14" name="TextBox 13"/>
          <p:cNvSpPr txBox="1"/>
          <p:nvPr/>
        </p:nvSpPr>
        <p:spPr>
          <a:xfrm>
            <a:off x="812800" y="6032500"/>
            <a:ext cx="9207500" cy="508000"/>
          </a:xfrm>
          <a:prstGeom prst="rect">
            <a:avLst/>
          </a:prstGeom>
          <a:noFill/>
        </p:spPr>
        <p:txBody>
          <a:bodyPr wrap="square" lIns="0" rIns="0" tIns="0" bIns="0" anchor="t">
            <a:spAutoFit/>
          </a:bodyPr>
          <a:lstStyle/>
          <a:p>
            <a:pPr algn="l">
              <a:lnSpc>
                <a:spcPct val="130000"/>
              </a:lnSpc>
            </a:pPr>
            <a:r>
              <a:rPr sz="1200" b="0">
                <a:solidFill>
                  <a:srgbClr val="B8C0CF"/>
                </a:solidFill>
                <a:latin typeface="Arial"/>
              </a:rPr>
              <a:t>Estimate: 100 conversations a day, $4,000/month blended seller cost, 70% of the work automated (PRD target). Build cost excluded. At 40% automation it still saves $1,662 a month.</a:t>
            </a:r>
          </a:p>
        </p:txBody>
      </p:sp>
      <p:sp>
        <p:nvSpPr>
          <p:cNvPr id="15" name="TextBox 14"/>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B8C0CF"/>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11 · How we will know it worked</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One North Star, gated by AI accuracy</a:t>
            </a:r>
          </a:p>
        </p:txBody>
      </p:sp>
      <p:sp>
        <p:nvSpPr>
          <p:cNvPr id="4" name="Rectangle 3"/>
          <p:cNvSpPr/>
          <p:nvPr/>
        </p:nvSpPr>
        <p:spPr>
          <a:xfrm>
            <a:off x="812800" y="2222500"/>
            <a:ext cx="10566400" cy="9525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222500"/>
            <a:ext cx="1524000" cy="952500"/>
          </a:xfrm>
          <a:prstGeom prst="rect">
            <a:avLst/>
          </a:prstGeom>
          <a:noFill/>
        </p:spPr>
        <p:txBody>
          <a:bodyPr wrap="square" lIns="0" rIns="0" tIns="0" bIns="0" anchor="ctr">
            <a:spAutoFit/>
          </a:bodyPr>
          <a:lstStyle/>
          <a:p>
            <a:pPr algn="l">
              <a:lnSpc>
                <a:spcPct val="120000"/>
              </a:lnSpc>
            </a:pPr>
            <a:r>
              <a:rPr sz="4800" b="1">
                <a:solidFill>
                  <a:srgbClr val="E4572E"/>
                </a:solidFill>
                <a:latin typeface="Arial Narrow"/>
              </a:rPr>
              <a:t>95%</a:t>
            </a:r>
          </a:p>
        </p:txBody>
      </p:sp>
      <p:sp>
        <p:nvSpPr>
          <p:cNvPr id="6" name="TextBox 5"/>
          <p:cNvSpPr txBox="1"/>
          <p:nvPr/>
        </p:nvSpPr>
        <p:spPr>
          <a:xfrm>
            <a:off x="2667000" y="2222500"/>
            <a:ext cx="8509000" cy="952500"/>
          </a:xfrm>
          <a:prstGeom prst="rect">
            <a:avLst/>
          </a:prstGeom>
          <a:noFill/>
        </p:spPr>
        <p:txBody>
          <a:bodyPr wrap="square" lIns="0" rIns="0" tIns="0" bIns="0" anchor="ctr">
            <a:spAutoFit/>
          </a:bodyPr>
          <a:lstStyle/>
          <a:p>
            <a:pPr algn="l">
              <a:lnSpc>
                <a:spcPct val="130000"/>
              </a:lnSpc>
            </a:pPr>
            <a:r>
              <a:rPr sz="1600" b="0">
                <a:solidFill>
                  <a:srgbClr val="F4F1EA"/>
                </a:solidFill>
                <a:latin typeface="Arial"/>
              </a:rPr>
              <a:t>of new leads recorded within 24 hours with source, requirement and next step, gated by field extraction accuracy of at least 90%</a:t>
            </a:r>
          </a:p>
        </p:txBody>
      </p:sp>
      <p:graphicFrame>
        <p:nvGraphicFramePr>
          <p:cNvPr id="7" name="Table 6"/>
          <p:cNvGraphicFramePr>
            <a:graphicFrameLocks noGrp="1"/>
          </p:cNvGraphicFramePr>
          <p:nvPr/>
        </p:nvGraphicFramePr>
        <p:xfrm>
          <a:off x="812800" y="3429000"/>
          <a:ext cx="10566400" cy="2438400"/>
        </p:xfrm>
        <a:graphic>
          <a:graphicData uri="http://schemas.openxmlformats.org/drawingml/2006/table">
            <a:tbl>
              <a:tblPr firstRow="1" bandRow="1">
                <a:tableStyleId>{2D5ABB26-0587-4C30-8999-92F81FD0307C}</a:tableStyleId>
              </a:tblPr>
              <a:tblGrid>
                <a:gridCol w="2535936"/>
                <a:gridCol w="4860544"/>
                <a:gridCol w="3169920"/>
              </a:tblGrid>
              <a:tr h="406400">
                <a:tc>
                  <a:txBody>
                    <a:bodyPr wrap="square"/>
                    <a:lstStyle/>
                    <a:p>
                      <a:pPr algn="l"/>
                      <a:r>
                        <a:rPr sz="1400" b="1">
                          <a:solidFill>
                            <a:srgbClr val="14213D"/>
                          </a:solidFill>
                          <a:latin typeface="Arial"/>
                        </a:rPr>
                        <a:t>Layer</a:t>
                      </a:r>
                    </a:p>
                  </a:txBody>
                  <a:tcPr marL="101600" marR="101600" marT="50800" marB="50800" anchor="ctr">
                    <a:solidFill>
                      <a:srgbClr val="E9E4D8"/>
                    </a:solidFill>
                  </a:tcPr>
                </a:tc>
                <a:tc>
                  <a:txBody>
                    <a:bodyPr wrap="square"/>
                    <a:lstStyle/>
                    <a:p>
                      <a:pPr algn="l"/>
                      <a:r>
                        <a:rPr sz="1400" b="1">
                          <a:solidFill>
                            <a:srgbClr val="14213D"/>
                          </a:solidFill>
                          <a:latin typeface="Arial"/>
                        </a:rPr>
                        <a:t>Metric</a:t>
                      </a:r>
                    </a:p>
                  </a:txBody>
                  <a:tcPr marL="101600" marR="101600" marT="50800" marB="50800" anchor="ctr">
                    <a:solidFill>
                      <a:srgbClr val="E9E4D8"/>
                    </a:solidFill>
                  </a:tcPr>
                </a:tc>
                <a:tc>
                  <a:txBody>
                    <a:bodyPr wrap="square"/>
                    <a:lstStyle/>
                    <a:p>
                      <a:pPr algn="l"/>
                      <a:r>
                        <a:rPr sz="1400" b="1">
                          <a:solidFill>
                            <a:srgbClr val="14213D"/>
                          </a:solidFill>
                          <a:latin typeface="Arial"/>
                        </a:rPr>
                        <a:t>Target</a:t>
                      </a:r>
                    </a:p>
                  </a:txBody>
                  <a:tcPr marL="101600" marR="101600" marT="50800" marB="50800" anchor="ctr">
                    <a:solidFill>
                      <a:srgbClr val="E9E4D8"/>
                    </a:solidFill>
                  </a:tcPr>
                </a:tc>
              </a:tr>
              <a:tr h="406400">
                <a:tc>
                  <a:txBody>
                    <a:bodyPr wrap="square"/>
                    <a:lstStyle/>
                    <a:p>
                      <a:pPr algn="l"/>
                      <a:r>
                        <a:rPr sz="1400" b="1">
                          <a:solidFill>
                            <a:srgbClr val="14213D"/>
                          </a:solidFill>
                          <a:latin typeface="Arial"/>
                        </a:rPr>
                        <a:t>Pipeline hygiene</a:t>
                      </a:r>
                    </a:p>
                  </a:txBody>
                  <a:tcPr marL="101600" marR="101600" marT="50800" marB="50800" anchor="ctr">
                    <a:solidFill>
                      <a:srgbClr val="FBFAF6"/>
                    </a:solidFill>
                  </a:tcPr>
                </a:tc>
                <a:tc>
                  <a:txBody>
                    <a:bodyPr wrap="square"/>
                    <a:lstStyle/>
                    <a:p>
                      <a:pPr algn="l"/>
                      <a:r>
                        <a:rPr sz="1400" b="0">
                          <a:solidFill>
                            <a:srgbClr val="14213D"/>
                          </a:solidFill>
                          <a:latin typeface="Arial"/>
                        </a:rPr>
                        <a:t>Open deals with a scheduled next step</a:t>
                      </a:r>
                    </a:p>
                  </a:txBody>
                  <a:tcPr marL="101600" marR="101600" marT="50800" marB="50800" anchor="ctr">
                    <a:solidFill>
                      <a:srgbClr val="FBFAF6"/>
                    </a:solidFill>
                  </a:tcPr>
                </a:tc>
                <a:tc>
                  <a:txBody>
                    <a:bodyPr wrap="square"/>
                    <a:lstStyle/>
                    <a:p>
                      <a:pPr algn="l"/>
                      <a:r>
                        <a:rPr sz="1400" b="0">
                          <a:solidFill>
                            <a:srgbClr val="14213D"/>
                          </a:solidFill>
                          <a:latin typeface="Arial"/>
                        </a:rPr>
                        <a:t>100%</a:t>
                      </a:r>
                    </a:p>
                  </a:txBody>
                  <a:tcPr marL="101600" marR="101600" marT="50800" marB="50800" anchor="ctr">
                    <a:solidFill>
                      <a:srgbClr val="FBFAF6"/>
                    </a:solidFill>
                  </a:tcPr>
                </a:tc>
              </a:tr>
              <a:tr h="406400">
                <a:tc>
                  <a:txBody>
                    <a:bodyPr wrap="square"/>
                    <a:lstStyle/>
                    <a:p>
                      <a:pPr algn="l"/>
                      <a:r>
                        <a:rPr sz="1400" b="1">
                          <a:solidFill>
                            <a:srgbClr val="14213D"/>
                          </a:solidFill>
                          <a:latin typeface="Arial"/>
                        </a:rPr>
                        <a:t>Trust</a:t>
                      </a:r>
                    </a:p>
                  </a:txBody>
                  <a:tcPr marL="101600" marR="101600" marT="50800" marB="50800" anchor="ctr">
                    <a:solidFill>
                      <a:srgbClr val="F4F1EA"/>
                    </a:solidFill>
                  </a:tcPr>
                </a:tc>
                <a:tc>
                  <a:txBody>
                    <a:bodyPr wrap="square"/>
                    <a:lstStyle/>
                    <a:p>
                      <a:pPr algn="l"/>
                      <a:r>
                        <a:rPr sz="1400" b="0">
                          <a:solidFill>
                            <a:srgbClr val="14213D"/>
                          </a:solidFill>
                          <a:latin typeface="Arial"/>
                        </a:rPr>
                        <a:t>Drafts confirmed with no or minor edits</a:t>
                      </a:r>
                    </a:p>
                  </a:txBody>
                  <a:tcPr marL="101600" marR="101600" marT="50800" marB="50800" anchor="ctr">
                    <a:solidFill>
                      <a:srgbClr val="F4F1EA"/>
                    </a:solidFill>
                  </a:tcPr>
                </a:tc>
                <a:tc>
                  <a:txBody>
                    <a:bodyPr wrap="square"/>
                    <a:lstStyle/>
                    <a:p>
                      <a:pPr algn="l"/>
                      <a:r>
                        <a:rPr sz="1400" b="0">
                          <a:solidFill>
                            <a:srgbClr val="14213D"/>
                          </a:solidFill>
                          <a:latin typeface="Arial"/>
                        </a:rPr>
                        <a:t>Above 80%</a:t>
                      </a:r>
                    </a:p>
                  </a:txBody>
                  <a:tcPr marL="101600" marR="101600" marT="50800" marB="50800" anchor="ctr">
                    <a:solidFill>
                      <a:srgbClr val="F4F1EA"/>
                    </a:solidFill>
                  </a:tcPr>
                </a:tc>
              </a:tr>
              <a:tr h="406400">
                <a:tc>
                  <a:txBody>
                    <a:bodyPr wrap="square"/>
                    <a:lstStyle/>
                    <a:p>
                      <a:pPr algn="l"/>
                      <a:r>
                        <a:rPr sz="1400" b="1">
                          <a:solidFill>
                            <a:srgbClr val="14213D"/>
                          </a:solidFill>
                          <a:latin typeface="Arial"/>
                        </a:rPr>
                        <a:t>Responsiveness</a:t>
                      </a:r>
                    </a:p>
                  </a:txBody>
                  <a:tcPr marL="101600" marR="101600" marT="50800" marB="50800" anchor="ctr">
                    <a:solidFill>
                      <a:srgbClr val="FBFAF6"/>
                    </a:solidFill>
                  </a:tcPr>
                </a:tc>
                <a:tc>
                  <a:txBody>
                    <a:bodyPr wrap="square"/>
                    <a:lstStyle/>
                    <a:p>
                      <a:pPr algn="l"/>
                      <a:r>
                        <a:rPr sz="1400" b="0">
                          <a:solidFill>
                            <a:srgbClr val="14213D"/>
                          </a:solidFill>
                          <a:latin typeface="Arial"/>
                        </a:rPr>
                        <a:t>Due follow-ups acted on within 2 days</a:t>
                      </a:r>
                    </a:p>
                  </a:txBody>
                  <a:tcPr marL="101600" marR="101600" marT="50800" marB="50800" anchor="ctr">
                    <a:solidFill>
                      <a:srgbClr val="FBFAF6"/>
                    </a:solidFill>
                  </a:tcPr>
                </a:tc>
                <a:tc>
                  <a:txBody>
                    <a:bodyPr wrap="square"/>
                    <a:lstStyle/>
                    <a:p>
                      <a:pPr algn="l"/>
                      <a:r>
                        <a:rPr sz="1400" b="0">
                          <a:solidFill>
                            <a:srgbClr val="14213D"/>
                          </a:solidFill>
                          <a:latin typeface="Arial"/>
                        </a:rPr>
                        <a:t>80%</a:t>
                      </a:r>
                    </a:p>
                  </a:txBody>
                  <a:tcPr marL="101600" marR="101600" marT="50800" marB="50800" anchor="ctr">
                    <a:solidFill>
                      <a:srgbClr val="FBFAF6"/>
                    </a:solidFill>
                  </a:tcPr>
                </a:tc>
              </a:tr>
              <a:tr h="406400">
                <a:tc>
                  <a:txBody>
                    <a:bodyPr wrap="square"/>
                    <a:lstStyle/>
                    <a:p>
                      <a:pPr algn="l"/>
                      <a:r>
                        <a:rPr sz="1400" b="1">
                          <a:solidFill>
                            <a:srgbClr val="14213D"/>
                          </a:solidFill>
                          <a:latin typeface="Arial"/>
                        </a:rPr>
                        <a:t>Efficiency</a:t>
                      </a:r>
                    </a:p>
                  </a:txBody>
                  <a:tcPr marL="101600" marR="101600" marT="50800" marB="50800" anchor="ctr">
                    <a:solidFill>
                      <a:srgbClr val="F4F1EA"/>
                    </a:solidFill>
                  </a:tcPr>
                </a:tc>
                <a:tc>
                  <a:txBody>
                    <a:bodyPr wrap="square"/>
                    <a:lstStyle/>
                    <a:p>
                      <a:pPr algn="l"/>
                      <a:r>
                        <a:rPr sz="1400" b="0">
                          <a:solidFill>
                            <a:srgbClr val="14213D"/>
                          </a:solidFill>
                          <a:latin typeface="Arial"/>
                        </a:rPr>
                        <a:t>Time spent on CRM updates per seller</a:t>
                      </a:r>
                    </a:p>
                  </a:txBody>
                  <a:tcPr marL="101600" marR="101600" marT="50800" marB="50800" anchor="ctr">
                    <a:solidFill>
                      <a:srgbClr val="F4F1EA"/>
                    </a:solidFill>
                  </a:tcPr>
                </a:tc>
                <a:tc>
                  <a:txBody>
                    <a:bodyPr wrap="square"/>
                    <a:lstStyle/>
                    <a:p>
                      <a:pPr algn="l"/>
                      <a:r>
                        <a:rPr sz="1400" b="0">
                          <a:solidFill>
                            <a:srgbClr val="14213D"/>
                          </a:solidFill>
                          <a:latin typeface="Arial"/>
                        </a:rPr>
                        <a:t>Down 70% (about $2,900 a month)</a:t>
                      </a:r>
                    </a:p>
                  </a:txBody>
                  <a:tcPr marL="101600" marR="101600" marT="50800" marB="50800" anchor="ctr">
                    <a:solidFill>
                      <a:srgbClr val="F4F1EA"/>
                    </a:solidFill>
                  </a:tcPr>
                </a:tc>
              </a:tr>
              <a:tr h="406400">
                <a:tc>
                  <a:txBody>
                    <a:bodyPr wrap="square"/>
                    <a:lstStyle/>
                    <a:p>
                      <a:pPr algn="l"/>
                      <a:r>
                        <a:rPr sz="1400" b="1">
                          <a:solidFill>
                            <a:srgbClr val="14213D"/>
                          </a:solidFill>
                          <a:latin typeface="Arial"/>
                        </a:rPr>
                        <a:t>Revenue</a:t>
                      </a:r>
                    </a:p>
                  </a:txBody>
                  <a:tcPr marL="101600" marR="101600" marT="50800" marB="50800" anchor="ctr">
                    <a:solidFill>
                      <a:srgbClr val="FBFAF6"/>
                    </a:solidFill>
                  </a:tcPr>
                </a:tc>
                <a:tc>
                  <a:txBody>
                    <a:bodyPr wrap="square"/>
                    <a:lstStyle/>
                    <a:p>
                      <a:pPr algn="l"/>
                      <a:r>
                        <a:rPr sz="1400" b="0">
                          <a:solidFill>
                            <a:srgbClr val="14213D"/>
                          </a:solidFill>
                          <a:latin typeface="Arial"/>
                        </a:rPr>
                        <a:t>Cross-sell pipeline from existing clients</a:t>
                      </a:r>
                    </a:p>
                  </a:txBody>
                  <a:tcPr marL="101600" marR="101600" marT="50800" marB="50800" anchor="ctr">
                    <a:solidFill>
                      <a:srgbClr val="FBFAF6"/>
                    </a:solidFill>
                  </a:tcPr>
                </a:tc>
                <a:tc>
                  <a:txBody>
                    <a:bodyPr wrap="square"/>
                    <a:lstStyle/>
                    <a:p>
                      <a:pPr algn="l"/>
                      <a:r>
                        <a:rPr sz="1400" b="0">
                          <a:solidFill>
                            <a:srgbClr val="14213D"/>
                          </a:solidFill>
                          <a:latin typeface="Arial"/>
                        </a:rPr>
                        <a:t>+20% in 2 quarters</a:t>
                      </a:r>
                    </a:p>
                  </a:txBody>
                  <a:tcPr marL="101600" marR="101600" marT="50800" marB="50800" anchor="ctr">
                    <a:solidFill>
                      <a:srgbClr val="FBFAF6"/>
                    </a:solidFill>
                  </a:tcPr>
                </a:tc>
              </a:tr>
            </a:tbl>
          </a:graphicData>
        </a:graphic>
      </p:graphicFrame>
      <p:sp>
        <p:nvSpPr>
          <p:cNvPr id="8" name="TextBox 7"/>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Source: AI PRD v1.2, section 12; baselines measured in the shadow test</a:t>
            </a:r>
          </a:p>
        </p:txBody>
      </p:sp>
      <p:sp>
        <p:nvSpPr>
          <p:cNvPr id="9" name="TextBox 8"/>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E4572E"/>
                </a:solidFill>
                <a:latin typeface="Arial"/>
              </a:rPr>
              <a:t>12 · Rollout</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F4F1EA"/>
                </a:solidFill>
                <a:latin typeface="Arial Narrow"/>
              </a:rPr>
              <a:t>Trust earned in five gated stages</a:t>
            </a:r>
          </a:p>
        </p:txBody>
      </p:sp>
      <p:sp>
        <p:nvSpPr>
          <p:cNvPr id="4" name="Rectangle 3"/>
          <p:cNvSpPr/>
          <p:nvPr/>
        </p:nvSpPr>
        <p:spPr>
          <a:xfrm>
            <a:off x="812800" y="2286000"/>
            <a:ext cx="2011680" cy="34290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463800"/>
            <a:ext cx="1656080" cy="228600"/>
          </a:xfrm>
          <a:prstGeom prst="rect">
            <a:avLst/>
          </a:prstGeom>
          <a:noFill/>
        </p:spPr>
        <p:txBody>
          <a:bodyPr wrap="square" lIns="0" rIns="0" tIns="0" bIns="0" anchor="t">
            <a:spAutoFit/>
          </a:bodyPr>
          <a:lstStyle/>
          <a:p>
            <a:pPr algn="l">
              <a:lnSpc>
                <a:spcPct val="120000"/>
              </a:lnSpc>
            </a:pPr>
            <a:r>
              <a:rPr sz="1200" b="1" cap="all" spc="100">
                <a:solidFill>
                  <a:srgbClr val="14213D"/>
                </a:solidFill>
                <a:latin typeface="Arial"/>
              </a:rPr>
              <a:t>Oct 2026 · Done</a:t>
            </a:r>
          </a:p>
        </p:txBody>
      </p:sp>
      <p:sp>
        <p:nvSpPr>
          <p:cNvPr id="6" name="TextBox 5"/>
          <p:cNvSpPr txBox="1"/>
          <p:nvPr/>
        </p:nvSpPr>
        <p:spPr>
          <a:xfrm>
            <a:off x="990600" y="2768600"/>
            <a:ext cx="1656080" cy="698500"/>
          </a:xfrm>
          <a:prstGeom prst="rect">
            <a:avLst/>
          </a:prstGeom>
          <a:noFill/>
        </p:spPr>
        <p:txBody>
          <a:bodyPr wrap="square" lIns="0" rIns="0" tIns="0" bIns="0" anchor="t">
            <a:spAutoFit/>
          </a:bodyPr>
          <a:lstStyle/>
          <a:p>
            <a:pPr algn="l">
              <a:lnSpc>
                <a:spcPct val="100000"/>
              </a:lnSpc>
            </a:pPr>
            <a:r>
              <a:rPr sz="2000" b="1" cap="all">
                <a:solidFill>
                  <a:srgbClr val="14213D"/>
                </a:solidFill>
                <a:latin typeface="Arial Narrow"/>
              </a:rPr>
              <a:t>Prototype</a:t>
            </a:r>
          </a:p>
        </p:txBody>
      </p:sp>
      <p:sp>
        <p:nvSpPr>
          <p:cNvPr id="7" name="TextBox 6"/>
          <p:cNvSpPr txBox="1"/>
          <p:nvPr/>
        </p:nvSpPr>
        <p:spPr>
          <a:xfrm>
            <a:off x="990600" y="3556000"/>
            <a:ext cx="1656080" cy="1079500"/>
          </a:xfrm>
          <a:prstGeom prst="rect">
            <a:avLst/>
          </a:prstGeom>
          <a:noFill/>
        </p:spPr>
        <p:txBody>
          <a:bodyPr wrap="square" lIns="0" rIns="0" tIns="0" bIns="0" anchor="t">
            <a:spAutoFit/>
          </a:bodyPr>
          <a:lstStyle/>
          <a:p>
            <a:pPr algn="l">
              <a:lnSpc>
                <a:spcPct val="130000"/>
              </a:lnSpc>
            </a:pPr>
            <a:r>
              <a:rPr sz="1300" b="0">
                <a:solidFill>
                  <a:srgbClr val="14213D"/>
                </a:solidFill>
                <a:latin typeface="Arial"/>
              </a:rPr>
              <a:t>Built and tested. Nothing touches the real CRM.</a:t>
            </a:r>
          </a:p>
        </p:txBody>
      </p:sp>
      <p:sp>
        <p:nvSpPr>
          <p:cNvPr id="8" name="Rectangle 7"/>
          <p:cNvSpPr/>
          <p:nvPr/>
        </p:nvSpPr>
        <p:spPr>
          <a:xfrm>
            <a:off x="2951480" y="2286000"/>
            <a:ext cx="2011680" cy="3429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29280" y="2463800"/>
            <a:ext cx="1656080" cy="228600"/>
          </a:xfrm>
          <a:prstGeom prst="rect">
            <a:avLst/>
          </a:prstGeom>
          <a:noFill/>
        </p:spPr>
        <p:txBody>
          <a:bodyPr wrap="square" lIns="0" rIns="0" tIns="0" bIns="0" anchor="t">
            <a:spAutoFit/>
          </a:bodyPr>
          <a:lstStyle/>
          <a:p>
            <a:pPr algn="l">
              <a:lnSpc>
                <a:spcPct val="120000"/>
              </a:lnSpc>
            </a:pPr>
            <a:r>
              <a:rPr sz="1200" b="1" cap="all" spc="100">
                <a:solidFill>
                  <a:srgbClr val="E4572E"/>
                </a:solidFill>
                <a:latin typeface="Arial"/>
              </a:rPr>
              <a:t>Dec 2026</a:t>
            </a:r>
          </a:p>
        </p:txBody>
      </p:sp>
      <p:sp>
        <p:nvSpPr>
          <p:cNvPr id="10" name="TextBox 9"/>
          <p:cNvSpPr txBox="1"/>
          <p:nvPr/>
        </p:nvSpPr>
        <p:spPr>
          <a:xfrm>
            <a:off x="3129280" y="2768600"/>
            <a:ext cx="1656080" cy="698500"/>
          </a:xfrm>
          <a:prstGeom prst="rect">
            <a:avLst/>
          </a:prstGeom>
          <a:noFill/>
        </p:spPr>
        <p:txBody>
          <a:bodyPr wrap="square" lIns="0" rIns="0" tIns="0" bIns="0" anchor="t">
            <a:spAutoFit/>
          </a:bodyPr>
          <a:lstStyle/>
          <a:p>
            <a:pPr algn="l">
              <a:lnSpc>
                <a:spcPct val="100000"/>
              </a:lnSpc>
            </a:pPr>
            <a:r>
              <a:rPr sz="2000" b="1" cap="all">
                <a:solidFill>
                  <a:srgbClr val="F4F1EA"/>
                </a:solidFill>
                <a:latin typeface="Arial Narrow"/>
              </a:rPr>
              <a:t>Shadow alpha</a:t>
            </a:r>
          </a:p>
        </p:txBody>
      </p:sp>
      <p:sp>
        <p:nvSpPr>
          <p:cNvPr id="11" name="TextBox 10"/>
          <p:cNvSpPr txBox="1"/>
          <p:nvPr/>
        </p:nvSpPr>
        <p:spPr>
          <a:xfrm>
            <a:off x="3129280" y="3556000"/>
            <a:ext cx="1656080" cy="10795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2 users; drafts compared with what they record. Nothing saved.</a:t>
            </a:r>
          </a:p>
        </p:txBody>
      </p:sp>
      <p:sp>
        <p:nvSpPr>
          <p:cNvPr id="12" name="TextBox 11"/>
          <p:cNvSpPr txBox="1"/>
          <p:nvPr/>
        </p:nvSpPr>
        <p:spPr>
          <a:xfrm>
            <a:off x="3129280" y="4699000"/>
            <a:ext cx="1656080" cy="889000"/>
          </a:xfrm>
          <a:prstGeom prst="rect">
            <a:avLst/>
          </a:prstGeom>
          <a:noFill/>
        </p:spPr>
        <p:txBody>
          <a:bodyPr wrap="square" lIns="0" rIns="0" tIns="0" bIns="0" anchor="t">
            <a:spAutoFit/>
          </a:bodyPr>
          <a:lstStyle/>
          <a:p>
            <a:pPr algn="l">
              <a:lnSpc>
                <a:spcPct val="130000"/>
              </a:lnSpc>
            </a:pPr>
            <a:r>
              <a:rPr sz="1200" b="1">
                <a:solidFill>
                  <a:srgbClr val="F4F1EA"/>
                </a:solidFill>
                <a:latin typeface="Arial"/>
              </a:rPr>
              <a:t>Gate: </a:t>
            </a:r>
            <a:r>
              <a:rPr sz="1200" b="0">
                <a:solidFill>
                  <a:srgbClr val="F4F1EA"/>
                </a:solidFill>
                <a:latin typeface="Arial"/>
              </a:rPr>
              <a:t>fields 90%+ right, zero personal data</a:t>
            </a:r>
          </a:p>
        </p:txBody>
      </p:sp>
      <p:sp>
        <p:nvSpPr>
          <p:cNvPr id="13" name="Rectangle 12"/>
          <p:cNvSpPr/>
          <p:nvPr/>
        </p:nvSpPr>
        <p:spPr>
          <a:xfrm>
            <a:off x="5090160" y="2286000"/>
            <a:ext cx="2011680" cy="3429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7960" y="2463800"/>
            <a:ext cx="1656080" cy="228600"/>
          </a:xfrm>
          <a:prstGeom prst="rect">
            <a:avLst/>
          </a:prstGeom>
          <a:noFill/>
        </p:spPr>
        <p:txBody>
          <a:bodyPr wrap="square" lIns="0" rIns="0" tIns="0" bIns="0" anchor="t">
            <a:spAutoFit/>
          </a:bodyPr>
          <a:lstStyle/>
          <a:p>
            <a:pPr algn="l">
              <a:lnSpc>
                <a:spcPct val="120000"/>
              </a:lnSpc>
            </a:pPr>
            <a:r>
              <a:rPr sz="1200" b="1" cap="all" spc="100">
                <a:solidFill>
                  <a:srgbClr val="E4572E"/>
                </a:solidFill>
                <a:latin typeface="Arial"/>
              </a:rPr>
              <a:t>Jan 2027</a:t>
            </a:r>
          </a:p>
        </p:txBody>
      </p:sp>
      <p:sp>
        <p:nvSpPr>
          <p:cNvPr id="15" name="TextBox 14"/>
          <p:cNvSpPr txBox="1"/>
          <p:nvPr/>
        </p:nvSpPr>
        <p:spPr>
          <a:xfrm>
            <a:off x="5267960" y="2768600"/>
            <a:ext cx="1656080" cy="698500"/>
          </a:xfrm>
          <a:prstGeom prst="rect">
            <a:avLst/>
          </a:prstGeom>
          <a:noFill/>
        </p:spPr>
        <p:txBody>
          <a:bodyPr wrap="square" lIns="0" rIns="0" tIns="0" bIns="0" anchor="t">
            <a:spAutoFit/>
          </a:bodyPr>
          <a:lstStyle/>
          <a:p>
            <a:pPr algn="l">
              <a:lnSpc>
                <a:spcPct val="100000"/>
              </a:lnSpc>
            </a:pPr>
            <a:r>
              <a:rPr sz="2000" b="1" cap="all">
                <a:solidFill>
                  <a:srgbClr val="F4F1EA"/>
                </a:solidFill>
                <a:latin typeface="Arial Narrow"/>
              </a:rPr>
              <a:t>Closed beta</a:t>
            </a:r>
          </a:p>
        </p:txBody>
      </p:sp>
      <p:sp>
        <p:nvSpPr>
          <p:cNvPr id="16" name="TextBox 15"/>
          <p:cNvSpPr txBox="1"/>
          <p:nvPr/>
        </p:nvSpPr>
        <p:spPr>
          <a:xfrm>
            <a:off x="5267960" y="3556000"/>
            <a:ext cx="1656080" cy="10795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All 4 sellers confirm real drafts; reminders on.</a:t>
            </a:r>
          </a:p>
        </p:txBody>
      </p:sp>
      <p:sp>
        <p:nvSpPr>
          <p:cNvPr id="17" name="TextBox 16"/>
          <p:cNvSpPr txBox="1"/>
          <p:nvPr/>
        </p:nvSpPr>
        <p:spPr>
          <a:xfrm>
            <a:off x="5267960" y="4699000"/>
            <a:ext cx="1656080" cy="889000"/>
          </a:xfrm>
          <a:prstGeom prst="rect">
            <a:avLst/>
          </a:prstGeom>
          <a:noFill/>
        </p:spPr>
        <p:txBody>
          <a:bodyPr wrap="square" lIns="0" rIns="0" tIns="0" bIns="0" anchor="t">
            <a:spAutoFit/>
          </a:bodyPr>
          <a:lstStyle/>
          <a:p>
            <a:pPr algn="l">
              <a:lnSpc>
                <a:spcPct val="130000"/>
              </a:lnSpc>
            </a:pPr>
            <a:r>
              <a:rPr sz="1200" b="1">
                <a:solidFill>
                  <a:srgbClr val="F4F1EA"/>
                </a:solidFill>
                <a:latin typeface="Arial"/>
              </a:rPr>
              <a:t>Gate: </a:t>
            </a:r>
            <a:r>
              <a:rPr sz="1200" b="0">
                <a:solidFill>
                  <a:srgbClr val="F4F1EA"/>
                </a:solidFill>
                <a:latin typeface="Arial"/>
              </a:rPr>
              <a:t>80% drafts accepted with minor edits</a:t>
            </a:r>
          </a:p>
        </p:txBody>
      </p:sp>
      <p:sp>
        <p:nvSpPr>
          <p:cNvPr id="18" name="Rectangle 17"/>
          <p:cNvSpPr/>
          <p:nvPr/>
        </p:nvSpPr>
        <p:spPr>
          <a:xfrm>
            <a:off x="7228840" y="2286000"/>
            <a:ext cx="2011680" cy="3429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2463800"/>
            <a:ext cx="1656080" cy="228600"/>
          </a:xfrm>
          <a:prstGeom prst="rect">
            <a:avLst/>
          </a:prstGeom>
          <a:noFill/>
        </p:spPr>
        <p:txBody>
          <a:bodyPr wrap="square" lIns="0" rIns="0" tIns="0" bIns="0" anchor="t">
            <a:spAutoFit/>
          </a:bodyPr>
          <a:lstStyle/>
          <a:p>
            <a:pPr algn="l">
              <a:lnSpc>
                <a:spcPct val="120000"/>
              </a:lnSpc>
            </a:pPr>
            <a:r>
              <a:rPr sz="1200" b="1" cap="all" spc="100">
                <a:solidFill>
                  <a:srgbClr val="E4572E"/>
                </a:solidFill>
                <a:latin typeface="Arial"/>
              </a:rPr>
              <a:t>Feb 2027</a:t>
            </a:r>
          </a:p>
        </p:txBody>
      </p:sp>
      <p:sp>
        <p:nvSpPr>
          <p:cNvPr id="20" name="TextBox 19"/>
          <p:cNvSpPr txBox="1"/>
          <p:nvPr/>
        </p:nvSpPr>
        <p:spPr>
          <a:xfrm>
            <a:off x="7406640" y="2768600"/>
            <a:ext cx="1656080" cy="698500"/>
          </a:xfrm>
          <a:prstGeom prst="rect">
            <a:avLst/>
          </a:prstGeom>
          <a:noFill/>
        </p:spPr>
        <p:txBody>
          <a:bodyPr wrap="square" lIns="0" rIns="0" tIns="0" bIns="0" anchor="t">
            <a:spAutoFit/>
          </a:bodyPr>
          <a:lstStyle/>
          <a:p>
            <a:pPr algn="l">
              <a:lnSpc>
                <a:spcPct val="100000"/>
              </a:lnSpc>
            </a:pPr>
            <a:r>
              <a:rPr sz="2000" b="1" cap="all">
                <a:solidFill>
                  <a:srgbClr val="F4F1EA"/>
                </a:solidFill>
                <a:latin typeface="Arial Narrow"/>
              </a:rPr>
              <a:t>Phased</a:t>
            </a:r>
          </a:p>
        </p:txBody>
      </p:sp>
      <p:sp>
        <p:nvSpPr>
          <p:cNvPr id="21" name="TextBox 20"/>
          <p:cNvSpPr txBox="1"/>
          <p:nvPr/>
        </p:nvSpPr>
        <p:spPr>
          <a:xfrm>
            <a:off x="7406640" y="3556000"/>
            <a:ext cx="1656080" cy="10795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Dashboard used in the weekly pipeline review.</a:t>
            </a:r>
          </a:p>
        </p:txBody>
      </p:sp>
      <p:sp>
        <p:nvSpPr>
          <p:cNvPr id="22" name="TextBox 21"/>
          <p:cNvSpPr txBox="1"/>
          <p:nvPr/>
        </p:nvSpPr>
        <p:spPr>
          <a:xfrm>
            <a:off x="7406640" y="4699000"/>
            <a:ext cx="1656080" cy="889000"/>
          </a:xfrm>
          <a:prstGeom prst="rect">
            <a:avLst/>
          </a:prstGeom>
          <a:noFill/>
        </p:spPr>
        <p:txBody>
          <a:bodyPr wrap="square" lIns="0" rIns="0" tIns="0" bIns="0" anchor="t">
            <a:spAutoFit/>
          </a:bodyPr>
          <a:lstStyle/>
          <a:p>
            <a:pPr algn="l">
              <a:lnSpc>
                <a:spcPct val="130000"/>
              </a:lnSpc>
            </a:pPr>
            <a:r>
              <a:rPr sz="1200" b="1">
                <a:solidFill>
                  <a:srgbClr val="F4F1EA"/>
                </a:solidFill>
                <a:latin typeface="Arial"/>
              </a:rPr>
              <a:t>Gate: </a:t>
            </a:r>
            <a:r>
              <a:rPr sz="1200" b="0">
                <a:solidFill>
                  <a:srgbClr val="F4F1EA"/>
                </a:solidFill>
                <a:latin typeface="Arial"/>
              </a:rPr>
              <a:t>90% of leads recorded in 24 hours</a:t>
            </a:r>
          </a:p>
        </p:txBody>
      </p:sp>
      <p:sp>
        <p:nvSpPr>
          <p:cNvPr id="23" name="Rectangle 22"/>
          <p:cNvSpPr/>
          <p:nvPr/>
        </p:nvSpPr>
        <p:spPr>
          <a:xfrm>
            <a:off x="9367520" y="2286000"/>
            <a:ext cx="2011680" cy="3429000"/>
          </a:xfrm>
          <a:prstGeom prst="rect">
            <a:avLst/>
          </a:prstGeom>
          <a:solidFill>
            <a:srgbClr val="1E2F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45320" y="2463800"/>
            <a:ext cx="1656080" cy="228600"/>
          </a:xfrm>
          <a:prstGeom prst="rect">
            <a:avLst/>
          </a:prstGeom>
          <a:noFill/>
        </p:spPr>
        <p:txBody>
          <a:bodyPr wrap="square" lIns="0" rIns="0" tIns="0" bIns="0" anchor="t">
            <a:spAutoFit/>
          </a:bodyPr>
          <a:lstStyle/>
          <a:p>
            <a:pPr algn="l">
              <a:lnSpc>
                <a:spcPct val="120000"/>
              </a:lnSpc>
            </a:pPr>
            <a:r>
              <a:rPr sz="1200" b="1" cap="all" spc="100">
                <a:solidFill>
                  <a:srgbClr val="E4572E"/>
                </a:solidFill>
                <a:latin typeface="Arial"/>
              </a:rPr>
              <a:t>Mar 2027</a:t>
            </a:r>
          </a:p>
        </p:txBody>
      </p:sp>
      <p:sp>
        <p:nvSpPr>
          <p:cNvPr id="25" name="TextBox 24"/>
          <p:cNvSpPr txBox="1"/>
          <p:nvPr/>
        </p:nvSpPr>
        <p:spPr>
          <a:xfrm>
            <a:off x="9545320" y="2768600"/>
            <a:ext cx="1656080" cy="698500"/>
          </a:xfrm>
          <a:prstGeom prst="rect">
            <a:avLst/>
          </a:prstGeom>
          <a:noFill/>
        </p:spPr>
        <p:txBody>
          <a:bodyPr wrap="square" lIns="0" rIns="0" tIns="0" bIns="0" anchor="t">
            <a:spAutoFit/>
          </a:bodyPr>
          <a:lstStyle/>
          <a:p>
            <a:pPr algn="l">
              <a:lnSpc>
                <a:spcPct val="100000"/>
              </a:lnSpc>
            </a:pPr>
            <a:r>
              <a:rPr sz="2000" b="1" cap="all">
                <a:solidFill>
                  <a:srgbClr val="F4F1EA"/>
                </a:solidFill>
                <a:latin typeface="Arial Narrow"/>
              </a:rPr>
              <a:t>Full release</a:t>
            </a:r>
          </a:p>
        </p:txBody>
      </p:sp>
      <p:sp>
        <p:nvSpPr>
          <p:cNvPr id="26" name="TextBox 25"/>
          <p:cNvSpPr txBox="1"/>
          <p:nvPr/>
        </p:nvSpPr>
        <p:spPr>
          <a:xfrm>
            <a:off x="9545320" y="3556000"/>
            <a:ext cx="1656080" cy="1079500"/>
          </a:xfrm>
          <a:prstGeom prst="rect">
            <a:avLst/>
          </a:prstGeom>
          <a:noFill/>
        </p:spPr>
        <p:txBody>
          <a:bodyPr wrap="square" lIns="0" rIns="0" tIns="0" bIns="0" anchor="t">
            <a:spAutoFit/>
          </a:bodyPr>
          <a:lstStyle/>
          <a:p>
            <a:pPr algn="l">
              <a:lnSpc>
                <a:spcPct val="130000"/>
              </a:lnSpc>
            </a:pPr>
            <a:r>
              <a:rPr sz="1300" b="0">
                <a:solidFill>
                  <a:srgbClr val="B8C0CF"/>
                </a:solidFill>
                <a:latin typeface="Arial"/>
              </a:rPr>
              <a:t>Standard way of working; LinkedIn and cross-sell next.</a:t>
            </a:r>
          </a:p>
        </p:txBody>
      </p:sp>
      <p:sp>
        <p:nvSpPr>
          <p:cNvPr id="27" name="TextBox 26"/>
          <p:cNvSpPr txBox="1"/>
          <p:nvPr/>
        </p:nvSpPr>
        <p:spPr>
          <a:xfrm>
            <a:off x="9545320" y="4699000"/>
            <a:ext cx="1656080" cy="889000"/>
          </a:xfrm>
          <a:prstGeom prst="rect">
            <a:avLst/>
          </a:prstGeom>
          <a:noFill/>
        </p:spPr>
        <p:txBody>
          <a:bodyPr wrap="square" lIns="0" rIns="0" tIns="0" bIns="0" anchor="t">
            <a:spAutoFit/>
          </a:bodyPr>
          <a:lstStyle/>
          <a:p>
            <a:pPr algn="l">
              <a:lnSpc>
                <a:spcPct val="130000"/>
              </a:lnSpc>
            </a:pPr>
            <a:r>
              <a:rPr sz="1200" b="1">
                <a:solidFill>
                  <a:srgbClr val="F4F1EA"/>
                </a:solidFill>
                <a:latin typeface="Arial"/>
              </a:rPr>
              <a:t>Gate: </a:t>
            </a:r>
            <a:r>
              <a:rPr sz="1200" b="0">
                <a:solidFill>
                  <a:srgbClr val="F4F1EA"/>
                </a:solidFill>
                <a:latin typeface="Arial"/>
              </a:rPr>
              <a:t>60 days stable on all metrics</a:t>
            </a:r>
          </a:p>
        </p:txBody>
      </p:sp>
      <p:sp>
        <p:nvSpPr>
          <p:cNvPr id="28" name="TextBox 27"/>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B8C0CF"/>
                </a:solidFill>
                <a:latin typeface="Arial"/>
              </a:rPr>
              <a:t>Dates are estimates, to be confirmed with engineering after capacity review</a:t>
            </a:r>
          </a:p>
        </p:txBody>
      </p:sp>
      <p:sp>
        <p:nvSpPr>
          <p:cNvPr id="29" name="TextBox 28"/>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B8C0CF"/>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1EA"/>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B23A1B"/>
                </a:solidFill>
                <a:latin typeface="Arial"/>
              </a:rPr>
              <a:t>13 · Decisions needed</a:t>
            </a:r>
          </a:p>
        </p:txBody>
      </p:sp>
      <p:sp>
        <p:nvSpPr>
          <p:cNvPr id="3" name="TextBox 2"/>
          <p:cNvSpPr txBox="1"/>
          <p:nvPr/>
        </p:nvSpPr>
        <p:spPr>
          <a:xfrm>
            <a:off x="812800" y="1066800"/>
            <a:ext cx="10566400" cy="1143000"/>
          </a:xfrm>
          <a:prstGeom prst="rect">
            <a:avLst/>
          </a:prstGeom>
          <a:noFill/>
        </p:spPr>
        <p:txBody>
          <a:bodyPr wrap="square" lIns="0" rIns="0" tIns="0" bIns="0" anchor="t">
            <a:spAutoFit/>
          </a:bodyPr>
          <a:lstStyle/>
          <a:p>
            <a:pPr algn="l">
              <a:lnSpc>
                <a:spcPct val="100000"/>
              </a:lnSpc>
            </a:pPr>
            <a:r>
              <a:rPr sz="3600" b="1" cap="all">
                <a:solidFill>
                  <a:srgbClr val="14213D"/>
                </a:solidFill>
                <a:latin typeface="Arial Narrow"/>
              </a:rPr>
              <a:t>Four decisions to start the December alpha</a:t>
            </a:r>
          </a:p>
        </p:txBody>
      </p:sp>
      <p:sp>
        <p:nvSpPr>
          <p:cNvPr id="4" name="Rectangle 3"/>
          <p:cNvSpPr/>
          <p:nvPr/>
        </p:nvSpPr>
        <p:spPr>
          <a:xfrm>
            <a:off x="812800" y="2222500"/>
            <a:ext cx="5194300" cy="172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66800" y="2527300"/>
            <a:ext cx="177800" cy="177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22400" y="2451100"/>
            <a:ext cx="433070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1 · Consent</a:t>
            </a:r>
          </a:p>
        </p:txBody>
      </p:sp>
      <p:sp>
        <p:nvSpPr>
          <p:cNvPr id="7" name="TextBox 6"/>
          <p:cNvSpPr txBox="1"/>
          <p:nvPr/>
        </p:nvSpPr>
        <p:spPr>
          <a:xfrm>
            <a:off x="1422400" y="2882900"/>
            <a:ext cx="4330700" cy="762000"/>
          </a:xfrm>
          <a:prstGeom prst="rect">
            <a:avLst/>
          </a:prstGeom>
          <a:noFill/>
        </p:spPr>
        <p:txBody>
          <a:bodyPr wrap="square" lIns="0" rIns="0" tIns="0" bIns="0" anchor="t">
            <a:spAutoFit/>
          </a:bodyPr>
          <a:lstStyle/>
          <a:p>
            <a:pPr algn="l">
              <a:lnSpc>
                <a:spcPct val="130000"/>
              </a:lnSpc>
            </a:pPr>
            <a:r>
              <a:rPr sz="1400" b="0">
                <a:solidFill>
                  <a:srgbClr val="B8C0CF"/>
                </a:solidFill>
                <a:latin typeface="Arial"/>
              </a:rPr>
              <a:t>Founders agree, in writing, to read-only access to work email and calendar, with exclusion rules.</a:t>
            </a:r>
          </a:p>
        </p:txBody>
      </p:sp>
      <p:sp>
        <p:nvSpPr>
          <p:cNvPr id="8" name="Rectangle 7"/>
          <p:cNvSpPr/>
          <p:nvPr/>
        </p:nvSpPr>
        <p:spPr>
          <a:xfrm>
            <a:off x="6184900" y="2222500"/>
            <a:ext cx="5194300" cy="172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38900" y="2527300"/>
            <a:ext cx="177800" cy="177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94500" y="2451100"/>
            <a:ext cx="433070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2 · Systems</a:t>
            </a:r>
          </a:p>
        </p:txBody>
      </p:sp>
      <p:sp>
        <p:nvSpPr>
          <p:cNvPr id="11" name="TextBox 10"/>
          <p:cNvSpPr txBox="1"/>
          <p:nvPr/>
        </p:nvSpPr>
        <p:spPr>
          <a:xfrm>
            <a:off x="6794500" y="2882900"/>
            <a:ext cx="4330700" cy="762000"/>
          </a:xfrm>
          <a:prstGeom prst="rect">
            <a:avLst/>
          </a:prstGeom>
          <a:noFill/>
        </p:spPr>
        <p:txBody>
          <a:bodyPr wrap="square" lIns="0" rIns="0" tIns="0" bIns="0" anchor="t">
            <a:spAutoFit/>
          </a:bodyPr>
          <a:lstStyle/>
          <a:p>
            <a:pPr algn="l">
              <a:lnSpc>
                <a:spcPct val="130000"/>
              </a:lnSpc>
            </a:pPr>
            <a:r>
              <a:rPr sz="1400" b="0">
                <a:solidFill>
                  <a:srgbClr val="B8C0CF"/>
                </a:solidFill>
                <a:latin typeface="Arial"/>
              </a:rPr>
              <a:t>Confirm our email, calendar and CRM providers, and check the CRM's own AI before we build.</a:t>
            </a:r>
          </a:p>
        </p:txBody>
      </p:sp>
      <p:sp>
        <p:nvSpPr>
          <p:cNvPr id="12" name="Rectangle 11"/>
          <p:cNvSpPr/>
          <p:nvPr/>
        </p:nvSpPr>
        <p:spPr>
          <a:xfrm>
            <a:off x="812800" y="4127500"/>
            <a:ext cx="5194300" cy="172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66800" y="4432300"/>
            <a:ext cx="177800" cy="177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2400" y="4356100"/>
            <a:ext cx="433070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3 · AI budget</a:t>
            </a:r>
          </a:p>
        </p:txBody>
      </p:sp>
      <p:sp>
        <p:nvSpPr>
          <p:cNvPr id="15" name="TextBox 14"/>
          <p:cNvSpPr txBox="1"/>
          <p:nvPr/>
        </p:nvSpPr>
        <p:spPr>
          <a:xfrm>
            <a:off x="1422400" y="4787900"/>
            <a:ext cx="4330700" cy="762000"/>
          </a:xfrm>
          <a:prstGeom prst="rect">
            <a:avLst/>
          </a:prstGeom>
          <a:noFill/>
        </p:spPr>
        <p:txBody>
          <a:bodyPr wrap="square" lIns="0" rIns="0" tIns="0" bIns="0" anchor="t">
            <a:spAutoFit/>
          </a:bodyPr>
          <a:lstStyle/>
          <a:p>
            <a:pPr algn="l">
              <a:lnSpc>
                <a:spcPct val="130000"/>
              </a:lnSpc>
            </a:pPr>
            <a:r>
              <a:rPr sz="1400" b="0">
                <a:solidFill>
                  <a:srgbClr val="B8C0CF"/>
                </a:solidFill>
                <a:latin typeface="Arial"/>
              </a:rPr>
              <a:t>Approve paid AI accounts (Anthropic and Groq): about $5 a month at full volume, against roughly $2,900 a month saved.</a:t>
            </a:r>
          </a:p>
        </p:txBody>
      </p:sp>
      <p:sp>
        <p:nvSpPr>
          <p:cNvPr id="16" name="Rectangle 15"/>
          <p:cNvSpPr/>
          <p:nvPr/>
        </p:nvSpPr>
        <p:spPr>
          <a:xfrm>
            <a:off x="6184900" y="4127500"/>
            <a:ext cx="5194300" cy="17272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38900" y="4432300"/>
            <a:ext cx="177800" cy="177800"/>
          </a:xfrm>
          <a:prstGeom prst="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4500" y="4356100"/>
            <a:ext cx="4330700" cy="381000"/>
          </a:xfrm>
          <a:prstGeom prst="rect">
            <a:avLst/>
          </a:prstGeom>
          <a:noFill/>
        </p:spPr>
        <p:txBody>
          <a:bodyPr wrap="square" lIns="0" rIns="0" tIns="0" bIns="0" anchor="t">
            <a:spAutoFit/>
          </a:bodyPr>
          <a:lstStyle/>
          <a:p>
            <a:pPr algn="l">
              <a:lnSpc>
                <a:spcPct val="120000"/>
              </a:lnSpc>
            </a:pPr>
            <a:r>
              <a:rPr sz="2200" b="1" cap="all">
                <a:solidFill>
                  <a:srgbClr val="F4F1EA"/>
                </a:solidFill>
                <a:latin typeface="Arial Narrow"/>
              </a:rPr>
              <a:t>4 · Owner rule</a:t>
            </a:r>
          </a:p>
        </p:txBody>
      </p:sp>
      <p:sp>
        <p:nvSpPr>
          <p:cNvPr id="19" name="TextBox 18"/>
          <p:cNvSpPr txBox="1"/>
          <p:nvPr/>
        </p:nvSpPr>
        <p:spPr>
          <a:xfrm>
            <a:off x="6794500" y="4787900"/>
            <a:ext cx="4330700" cy="762000"/>
          </a:xfrm>
          <a:prstGeom prst="rect">
            <a:avLst/>
          </a:prstGeom>
          <a:noFill/>
        </p:spPr>
        <p:txBody>
          <a:bodyPr wrap="square" lIns="0" rIns="0" tIns="0" bIns="0" anchor="t">
            <a:spAutoFit/>
          </a:bodyPr>
          <a:lstStyle/>
          <a:p>
            <a:pPr algn="l">
              <a:lnSpc>
                <a:spcPct val="130000"/>
              </a:lnSpc>
            </a:pPr>
            <a:r>
              <a:rPr sz="1400" b="0">
                <a:solidFill>
                  <a:srgbClr val="B8C0CF"/>
                </a:solidFill>
                <a:latin typeface="Arial"/>
              </a:rPr>
              <a:t>Agree who owns deals with no owner, so every reminder reaches someone.</a:t>
            </a:r>
          </a:p>
        </p:txBody>
      </p:sp>
      <p:sp>
        <p:nvSpPr>
          <p:cNvPr id="20" name="TextBox 19"/>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0">
                <a:solidFill>
                  <a:srgbClr val="4A5568"/>
                </a:solidFill>
                <a:latin typeface="Arial"/>
              </a:rPr>
              <a:t>Full list of open questions: AI PRD v1.2, section 16</a:t>
            </a:r>
          </a:p>
        </p:txBody>
      </p:sp>
      <p:sp>
        <p:nvSpPr>
          <p:cNvPr id="21" name="TextBox 20"/>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0">
                <a:solidFill>
                  <a:srgbClr val="4A556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4572E"/>
        </a:solidFill>
        <a:effectLst/>
      </p:bgPr>
    </p:bg>
    <p:spTree>
      <p:nvGrpSpPr>
        <p:cNvPr id="1" name=""/>
        <p:cNvGrpSpPr/>
        <p:nvPr/>
      </p:nvGrpSpPr>
      <p:grpSpPr/>
      <p:sp>
        <p:nvSpPr>
          <p:cNvPr id="2" name="TextBox 1"/>
          <p:cNvSpPr txBox="1"/>
          <p:nvPr/>
        </p:nvSpPr>
        <p:spPr>
          <a:xfrm>
            <a:off x="812800" y="762000"/>
            <a:ext cx="10566400" cy="254000"/>
          </a:xfrm>
          <a:prstGeom prst="rect">
            <a:avLst/>
          </a:prstGeom>
          <a:noFill/>
        </p:spPr>
        <p:txBody>
          <a:bodyPr wrap="square" lIns="0" rIns="0" tIns="0" bIns="0" anchor="t">
            <a:spAutoFit/>
          </a:bodyPr>
          <a:lstStyle/>
          <a:p>
            <a:pPr algn="l">
              <a:lnSpc>
                <a:spcPct val="120000"/>
              </a:lnSpc>
            </a:pPr>
            <a:r>
              <a:rPr sz="1400" b="1" cap="all" spc="300">
                <a:solidFill>
                  <a:srgbClr val="14213D"/>
                </a:solidFill>
                <a:latin typeface="Arial"/>
              </a:rPr>
              <a:t>Next steps</a:t>
            </a:r>
          </a:p>
        </p:txBody>
      </p:sp>
      <p:sp>
        <p:nvSpPr>
          <p:cNvPr id="3" name="TextBox 2"/>
          <p:cNvSpPr txBox="1"/>
          <p:nvPr/>
        </p:nvSpPr>
        <p:spPr>
          <a:xfrm>
            <a:off x="812800" y="1066800"/>
            <a:ext cx="10566400" cy="2667000"/>
          </a:xfrm>
          <a:prstGeom prst="rect">
            <a:avLst/>
          </a:prstGeom>
          <a:noFill/>
        </p:spPr>
        <p:txBody>
          <a:bodyPr wrap="square" lIns="0" rIns="0" tIns="0" bIns="0" anchor="t">
            <a:spAutoFit/>
          </a:bodyPr>
          <a:lstStyle/>
          <a:p>
            <a:pPr algn="l">
              <a:lnSpc>
                <a:spcPct val="95000"/>
              </a:lnSpc>
            </a:pPr>
            <a:r>
              <a:rPr sz="6000" b="1" cap="all">
                <a:solidFill>
                  <a:srgbClr val="14213D"/>
                </a:solidFill>
                <a:latin typeface="Arial Narrow"/>
              </a:rPr>
              <a:t>With your go-ahead, shadow mode starts in December</a:t>
            </a:r>
          </a:p>
        </p:txBody>
      </p:sp>
      <p:sp>
        <p:nvSpPr>
          <p:cNvPr id="4" name="Rectangle 3"/>
          <p:cNvSpPr/>
          <p:nvPr/>
        </p:nvSpPr>
        <p:spPr>
          <a:xfrm>
            <a:off x="812800" y="4318000"/>
            <a:ext cx="3352800" cy="254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4495800"/>
            <a:ext cx="3352800" cy="406400"/>
          </a:xfrm>
          <a:prstGeom prst="rect">
            <a:avLst/>
          </a:prstGeom>
          <a:noFill/>
        </p:spPr>
        <p:txBody>
          <a:bodyPr wrap="square" lIns="0" rIns="0" tIns="0" bIns="0" anchor="t">
            <a:spAutoFit/>
          </a:bodyPr>
          <a:lstStyle/>
          <a:p>
            <a:pPr algn="l">
              <a:lnSpc>
                <a:spcPct val="120000"/>
              </a:lnSpc>
            </a:pPr>
            <a:r>
              <a:rPr sz="2400" b="1" cap="all">
                <a:solidFill>
                  <a:srgbClr val="14213D"/>
                </a:solidFill>
                <a:latin typeface="Arial Narrow"/>
              </a:rPr>
              <a:t>October</a:t>
            </a:r>
          </a:p>
        </p:txBody>
      </p:sp>
      <p:sp>
        <p:nvSpPr>
          <p:cNvPr id="6" name="TextBox 5"/>
          <p:cNvSpPr txBox="1"/>
          <p:nvPr/>
        </p:nvSpPr>
        <p:spPr>
          <a:xfrm>
            <a:off x="812800" y="4978400"/>
            <a:ext cx="3352800" cy="825500"/>
          </a:xfrm>
          <a:prstGeom prst="rect">
            <a:avLst/>
          </a:prstGeom>
          <a:noFill/>
        </p:spPr>
        <p:txBody>
          <a:bodyPr wrap="square" lIns="0" rIns="0" tIns="0" bIns="0" anchor="t">
            <a:spAutoFit/>
          </a:bodyPr>
          <a:lstStyle/>
          <a:p>
            <a:pPr algn="l">
              <a:lnSpc>
                <a:spcPct val="130000"/>
              </a:lnSpc>
            </a:pPr>
            <a:r>
              <a:rPr sz="1400" b="0">
                <a:solidFill>
                  <a:srgbClr val="14213D"/>
                </a:solidFill>
                <a:latin typeface="Arial"/>
              </a:rPr>
              <a:t>Confirm integrations; label 300 past emails and meetings as the test set</a:t>
            </a:r>
          </a:p>
        </p:txBody>
      </p:sp>
      <p:sp>
        <p:nvSpPr>
          <p:cNvPr id="7" name="Rectangle 6"/>
          <p:cNvSpPr/>
          <p:nvPr/>
        </p:nvSpPr>
        <p:spPr>
          <a:xfrm>
            <a:off x="4419600" y="4318000"/>
            <a:ext cx="3352800" cy="254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19600" y="4495800"/>
            <a:ext cx="3352800" cy="406400"/>
          </a:xfrm>
          <a:prstGeom prst="rect">
            <a:avLst/>
          </a:prstGeom>
          <a:noFill/>
        </p:spPr>
        <p:txBody>
          <a:bodyPr wrap="square" lIns="0" rIns="0" tIns="0" bIns="0" anchor="t">
            <a:spAutoFit/>
          </a:bodyPr>
          <a:lstStyle/>
          <a:p>
            <a:pPr algn="l">
              <a:lnSpc>
                <a:spcPct val="120000"/>
              </a:lnSpc>
            </a:pPr>
            <a:r>
              <a:rPr sz="2400" b="1" cap="all">
                <a:solidFill>
                  <a:srgbClr val="14213D"/>
                </a:solidFill>
                <a:latin typeface="Arial Narrow"/>
              </a:rPr>
              <a:t>November</a:t>
            </a:r>
          </a:p>
        </p:txBody>
      </p:sp>
      <p:sp>
        <p:nvSpPr>
          <p:cNvPr id="9" name="TextBox 8"/>
          <p:cNvSpPr txBox="1"/>
          <p:nvPr/>
        </p:nvSpPr>
        <p:spPr>
          <a:xfrm>
            <a:off x="4419600" y="4978400"/>
            <a:ext cx="3352800" cy="825500"/>
          </a:xfrm>
          <a:prstGeom prst="rect">
            <a:avLst/>
          </a:prstGeom>
          <a:noFill/>
        </p:spPr>
        <p:txBody>
          <a:bodyPr wrap="square" lIns="0" rIns="0" tIns="0" bIns="0" anchor="t">
            <a:spAutoFit/>
          </a:bodyPr>
          <a:lstStyle/>
          <a:p>
            <a:pPr algn="l">
              <a:lnSpc>
                <a:spcPct val="130000"/>
              </a:lnSpc>
            </a:pPr>
            <a:r>
              <a:rPr sz="1400" b="0">
                <a:solidFill>
                  <a:srgbClr val="14213D"/>
                </a:solidFill>
                <a:latin typeface="Arial"/>
              </a:rPr>
              <a:t>Build live email and calendar connectors; run the launch-blocker evals</a:t>
            </a:r>
          </a:p>
        </p:txBody>
      </p:sp>
      <p:sp>
        <p:nvSpPr>
          <p:cNvPr id="10" name="Rectangle 9"/>
          <p:cNvSpPr/>
          <p:nvPr/>
        </p:nvSpPr>
        <p:spPr>
          <a:xfrm>
            <a:off x="8026400" y="4318000"/>
            <a:ext cx="3352800" cy="254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26400" y="4495800"/>
            <a:ext cx="3352800" cy="406400"/>
          </a:xfrm>
          <a:prstGeom prst="rect">
            <a:avLst/>
          </a:prstGeom>
          <a:noFill/>
        </p:spPr>
        <p:txBody>
          <a:bodyPr wrap="square" lIns="0" rIns="0" tIns="0" bIns="0" anchor="t">
            <a:spAutoFit/>
          </a:bodyPr>
          <a:lstStyle/>
          <a:p>
            <a:pPr algn="l">
              <a:lnSpc>
                <a:spcPct val="120000"/>
              </a:lnSpc>
            </a:pPr>
            <a:r>
              <a:rPr sz="2400" b="1" cap="all">
                <a:solidFill>
                  <a:srgbClr val="14213D"/>
                </a:solidFill>
                <a:latin typeface="Arial Narrow"/>
              </a:rPr>
              <a:t>December</a:t>
            </a:r>
          </a:p>
        </p:txBody>
      </p:sp>
      <p:sp>
        <p:nvSpPr>
          <p:cNvPr id="12" name="TextBox 11"/>
          <p:cNvSpPr txBox="1"/>
          <p:nvPr/>
        </p:nvSpPr>
        <p:spPr>
          <a:xfrm>
            <a:off x="8026400" y="4978400"/>
            <a:ext cx="3352800" cy="825500"/>
          </a:xfrm>
          <a:prstGeom prst="rect">
            <a:avLst/>
          </a:prstGeom>
          <a:noFill/>
        </p:spPr>
        <p:txBody>
          <a:bodyPr wrap="square" lIns="0" rIns="0" tIns="0" bIns="0" anchor="t">
            <a:spAutoFit/>
          </a:bodyPr>
          <a:lstStyle/>
          <a:p>
            <a:pPr algn="l">
              <a:lnSpc>
                <a:spcPct val="130000"/>
              </a:lnSpc>
            </a:pPr>
            <a:r>
              <a:rPr sz="1400" b="0">
                <a:solidFill>
                  <a:srgbClr val="14213D"/>
                </a:solidFill>
                <a:latin typeface="Arial"/>
              </a:rPr>
              <a:t>Shadow mode with 2 founders; measure the baseline time on CRM updates</a:t>
            </a:r>
          </a:p>
        </p:txBody>
      </p:sp>
      <p:sp>
        <p:nvSpPr>
          <p:cNvPr id="13" name="TextBox 12"/>
          <p:cNvSpPr txBox="1"/>
          <p:nvPr/>
        </p:nvSpPr>
        <p:spPr>
          <a:xfrm>
            <a:off x="812800" y="6286500"/>
            <a:ext cx="9207500" cy="381000"/>
          </a:xfrm>
          <a:prstGeom prst="rect">
            <a:avLst/>
          </a:prstGeom>
          <a:noFill/>
        </p:spPr>
        <p:txBody>
          <a:bodyPr wrap="square" lIns="0" rIns="0" tIns="0" bIns="0" anchor="t">
            <a:spAutoFit/>
          </a:bodyPr>
          <a:lstStyle/>
          <a:p>
            <a:pPr algn="l">
              <a:lnSpc>
                <a:spcPct val="120000"/>
              </a:lnSpc>
            </a:pPr>
            <a:r>
              <a:rPr sz="1200" b="1">
                <a:solidFill>
                  <a:srgbClr val="14213D"/>
                </a:solidFill>
                <a:latin typeface="Arial"/>
              </a:rPr>
              <a:t>Documents: Problem Discovery · AI Process Board · AI PRD v1.2 · LLM Cost Estimate v1.2 · HAX Assessment · System Design</a:t>
            </a:r>
          </a:p>
        </p:txBody>
      </p:sp>
      <p:sp>
        <p:nvSpPr>
          <p:cNvPr id="14" name="TextBox 13"/>
          <p:cNvSpPr txBox="1"/>
          <p:nvPr/>
        </p:nvSpPr>
        <p:spPr>
          <a:xfrm>
            <a:off x="10109200" y="6286500"/>
            <a:ext cx="1270000" cy="254000"/>
          </a:xfrm>
          <a:prstGeom prst="rect">
            <a:avLst/>
          </a:prstGeom>
          <a:noFill/>
        </p:spPr>
        <p:txBody>
          <a:bodyPr wrap="square" lIns="0" rIns="0" tIns="0" bIns="0" anchor="t">
            <a:spAutoFit/>
          </a:bodyPr>
          <a:lstStyle/>
          <a:p>
            <a:pPr algn="r">
              <a:lnSpc>
                <a:spcPct val="120000"/>
              </a:lnSpc>
            </a:pPr>
            <a:r>
              <a:rPr sz="1200" b="1">
                <a:solidFill>
                  <a:srgbClr val="14213D"/>
                </a:solidFill>
                <a:latin typeface="Arial"/>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Lead Assistant: Stakeholder Presentation</dc:title>
  <dc:subject/>
  <dc:creator>Pankaj Mehta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